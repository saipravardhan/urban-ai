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71" r:id="rId15"/>
    <p:sldId id="270"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92" d="100"/>
          <a:sy n="92" d="100"/>
        </p:scale>
        <p:origin x="66" y="14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6/25/2026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2" name="Oval 1"/>
          <p:cNvSpPr/>
          <p:nvPr/>
        </p:nvSpPr>
        <p:spPr>
          <a:xfrm>
            <a:off x="-914400" y="-914400"/>
            <a:ext cx="2743200" cy="2743200"/>
          </a:xfrm>
          <a:prstGeom prst="ellipse">
            <a:avLst/>
          </a:prstGeom>
          <a:solidFill>
            <a:srgbClr val="2C6FBB">
              <a:alpha val="38"/>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9144000" y="-1828800"/>
            <a:ext cx="4572000" cy="4572000"/>
          </a:xfrm>
          <a:prstGeom prst="ellipse">
            <a:avLst/>
          </a:prstGeom>
          <a:solidFill>
            <a:srgbClr val="1AAB8E">
              <a:alpha val="25"/>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8229600" y="3657600"/>
            <a:ext cx="2743200" cy="2743200"/>
          </a:xfrm>
          <a:prstGeom prst="ellipse">
            <a:avLst/>
          </a:prstGeom>
          <a:solidFill>
            <a:srgbClr val="8E44AD">
              <a:alpha val="3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457200" y="3657600"/>
            <a:ext cx="2743200" cy="2743200"/>
          </a:xfrm>
          <a:prstGeom prst="ellipse">
            <a:avLst/>
          </a:prstGeom>
          <a:solidFill>
            <a:srgbClr val="E67E22">
              <a:alpha val="2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371600" y="1828800"/>
            <a:ext cx="9448495" cy="36576"/>
          </a:xfrm>
          <a:prstGeom prst="rect">
            <a:avLst/>
          </a:prstGeom>
          <a:solidFill>
            <a:srgbClr val="1AAB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371600" y="2103120"/>
            <a:ext cx="9448495" cy="914400"/>
          </a:xfrm>
          <a:prstGeom prst="rect">
            <a:avLst/>
          </a:prstGeom>
          <a:noFill/>
        </p:spPr>
        <p:txBody>
          <a:bodyPr wrap="square">
            <a:spAutoFit/>
          </a:bodyPr>
          <a:lstStyle/>
          <a:p>
            <a:pPr algn="ctr">
              <a:defRPr sz="5400" b="1">
                <a:solidFill>
                  <a:srgbClr val="FFFFFF"/>
                </a:solidFill>
                <a:latin typeface="Calibri"/>
              </a:defRPr>
            </a:pPr>
            <a:r>
              <a:t>UrbanAI</a:t>
            </a:r>
          </a:p>
        </p:txBody>
      </p:sp>
      <p:sp>
        <p:nvSpPr>
          <p:cNvPr id="8" name="TextBox 7"/>
          <p:cNvSpPr txBox="1"/>
          <p:nvPr/>
        </p:nvSpPr>
        <p:spPr>
          <a:xfrm>
            <a:off x="1371600" y="2926080"/>
            <a:ext cx="9448495" cy="548640"/>
          </a:xfrm>
          <a:prstGeom prst="rect">
            <a:avLst/>
          </a:prstGeom>
          <a:noFill/>
        </p:spPr>
        <p:txBody>
          <a:bodyPr wrap="square">
            <a:spAutoFit/>
          </a:bodyPr>
          <a:lstStyle/>
          <a:p>
            <a:pPr algn="ctr">
              <a:defRPr sz="2400" b="0">
                <a:solidFill>
                  <a:srgbClr val="A0C4FF"/>
                </a:solidFill>
                <a:latin typeface="Calibri"/>
              </a:defRPr>
            </a:pPr>
            <a:r>
              <a:t>Intelligent Smart City Infrastructure Optimization Platform</a:t>
            </a:r>
          </a:p>
        </p:txBody>
      </p:sp>
      <p:sp>
        <p:nvSpPr>
          <p:cNvPr id="9" name="TextBox 8"/>
          <p:cNvSpPr txBox="1"/>
          <p:nvPr/>
        </p:nvSpPr>
        <p:spPr>
          <a:xfrm>
            <a:off x="1371600" y="3840480"/>
            <a:ext cx="9448495" cy="457200"/>
          </a:xfrm>
          <a:prstGeom prst="rect">
            <a:avLst/>
          </a:prstGeom>
          <a:noFill/>
        </p:spPr>
        <p:txBody>
          <a:bodyPr wrap="square">
            <a:spAutoFit/>
          </a:bodyPr>
          <a:lstStyle/>
          <a:p>
            <a:pPr algn="ctr">
              <a:defRPr sz="1600" b="0">
                <a:solidFill>
                  <a:srgbClr val="8899BB"/>
                </a:solidFill>
                <a:latin typeface="Calibri"/>
              </a:defRPr>
            </a:pPr>
            <a:r>
              <a:t>A Comprehensive DSA-Driven Solution for Urban Management</a:t>
            </a:r>
          </a:p>
        </p:txBody>
      </p:sp>
      <p:sp>
        <p:nvSpPr>
          <p:cNvPr id="10" name="Rectangle 9"/>
          <p:cNvSpPr/>
          <p:nvPr/>
        </p:nvSpPr>
        <p:spPr>
          <a:xfrm>
            <a:off x="1371600" y="4572000"/>
            <a:ext cx="9448495" cy="36576"/>
          </a:xfrm>
          <a:prstGeom prst="rect">
            <a:avLst/>
          </a:prstGeom>
          <a:solidFill>
            <a:srgbClr val="1AAB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371600" y="4709160"/>
            <a:ext cx="9448495" cy="320040"/>
          </a:xfrm>
          <a:prstGeom prst="rect">
            <a:avLst/>
          </a:prstGeom>
          <a:noFill/>
        </p:spPr>
        <p:txBody>
          <a:bodyPr wrap="square">
            <a:spAutoFit/>
          </a:bodyPr>
          <a:lstStyle/>
          <a:p>
            <a:pPr algn="l">
              <a:defRPr sz="1300" b="1">
                <a:solidFill>
                  <a:srgbClr val="1AAB8E"/>
                </a:solidFill>
                <a:latin typeface="Calibri"/>
              </a:defRPr>
            </a:pPr>
            <a:r>
              <a:t>Team Members</a:t>
            </a:r>
          </a:p>
        </p:txBody>
      </p:sp>
      <p:sp>
        <p:nvSpPr>
          <p:cNvPr id="12" name="TextBox 11"/>
          <p:cNvSpPr txBox="1"/>
          <p:nvPr/>
        </p:nvSpPr>
        <p:spPr>
          <a:xfrm>
            <a:off x="1371600" y="5029200"/>
            <a:ext cx="9448495" cy="320040"/>
          </a:xfrm>
          <a:prstGeom prst="rect">
            <a:avLst/>
          </a:prstGeom>
          <a:noFill/>
        </p:spPr>
        <p:txBody>
          <a:bodyPr wrap="square">
            <a:spAutoFit/>
          </a:bodyPr>
          <a:lstStyle/>
          <a:p>
            <a:pPr algn="l">
              <a:defRPr sz="1300" b="0">
                <a:solidFill>
                  <a:srgbClr val="B0C4DE"/>
                </a:solidFill>
                <a:latin typeface="Calibri"/>
              </a:defRPr>
            </a:pPr>
            <a:r>
              <a:t>2500030104 - PeddiReddy Chaitanya Raj        2500030107 - Perla Jyothika</a:t>
            </a:r>
          </a:p>
        </p:txBody>
      </p:sp>
      <p:sp>
        <p:nvSpPr>
          <p:cNvPr id="13" name="TextBox 12"/>
          <p:cNvSpPr txBox="1"/>
          <p:nvPr/>
        </p:nvSpPr>
        <p:spPr>
          <a:xfrm>
            <a:off x="1371600" y="5349240"/>
            <a:ext cx="9448495" cy="320040"/>
          </a:xfrm>
          <a:prstGeom prst="rect">
            <a:avLst/>
          </a:prstGeom>
          <a:noFill/>
        </p:spPr>
        <p:txBody>
          <a:bodyPr wrap="square">
            <a:spAutoFit/>
          </a:bodyPr>
          <a:lstStyle/>
          <a:p>
            <a:pPr algn="l">
              <a:defRPr sz="1300" b="0">
                <a:solidFill>
                  <a:srgbClr val="B0C4DE"/>
                </a:solidFill>
                <a:latin typeface="Calibri"/>
              </a:defRPr>
            </a:pPr>
            <a:r>
              <a:t>2500030135 - Gurrala Srishanth        2500030138 - Raja Hithesh</a:t>
            </a:r>
          </a:p>
        </p:txBody>
      </p:sp>
      <p:sp>
        <p:nvSpPr>
          <p:cNvPr id="14" name="TextBox 13"/>
          <p:cNvSpPr txBox="1"/>
          <p:nvPr/>
        </p:nvSpPr>
        <p:spPr>
          <a:xfrm>
            <a:off x="1371600" y="5715000"/>
            <a:ext cx="9448495" cy="292388"/>
          </a:xfrm>
          <a:prstGeom prst="rect">
            <a:avLst/>
          </a:prstGeom>
          <a:noFill/>
        </p:spPr>
        <p:txBody>
          <a:bodyPr wrap="square">
            <a:spAutoFit/>
          </a:bodyPr>
          <a:lstStyle/>
          <a:p>
            <a:pPr algn="l">
              <a:defRPr sz="1300" b="1">
                <a:solidFill>
                  <a:srgbClr val="8899BB"/>
                </a:solidFill>
                <a:latin typeface="Calibri"/>
              </a:defRPr>
            </a:pPr>
            <a:r>
              <a:rPr dirty="0"/>
              <a:t>Mentor: DR.</a:t>
            </a:r>
            <a:r>
              <a:rPr lang="en-US" dirty="0"/>
              <a:t> SK.</a:t>
            </a:r>
            <a:r>
              <a:rPr dirty="0"/>
              <a:t> Razia</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0F4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2C6F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74320"/>
            <a:ext cx="10972800" cy="640080"/>
          </a:xfrm>
          <a:prstGeom prst="rect">
            <a:avLst/>
          </a:prstGeom>
          <a:noFill/>
        </p:spPr>
        <p:txBody>
          <a:bodyPr wrap="square">
            <a:spAutoFit/>
          </a:bodyPr>
          <a:lstStyle/>
          <a:p>
            <a:pPr algn="l">
              <a:defRPr sz="3000" b="1">
                <a:solidFill>
                  <a:srgbClr val="2C6FBB"/>
                </a:solidFill>
                <a:latin typeface="Calibri"/>
              </a:defRPr>
            </a:pPr>
            <a:r>
              <a:t>Problem Statement</a:t>
            </a:r>
          </a:p>
        </p:txBody>
      </p:sp>
      <p:sp>
        <p:nvSpPr>
          <p:cNvPr id="4" name="Rectangle 3"/>
          <p:cNvSpPr/>
          <p:nvPr/>
        </p:nvSpPr>
        <p:spPr>
          <a:xfrm>
            <a:off x="548640" y="1097280"/>
            <a:ext cx="10972800" cy="27432"/>
          </a:xfrm>
          <a:prstGeom prst="rect">
            <a:avLst/>
          </a:prstGeom>
          <a:solidFill>
            <a:srgbClr val="2C6F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371600"/>
            <a:ext cx="10515600" cy="2862322"/>
          </a:xfrm>
          <a:prstGeom prst="rect">
            <a:avLst/>
          </a:prstGeom>
          <a:noFill/>
        </p:spPr>
        <p:txBody>
          <a:bodyPr wrap="square">
            <a:spAutoFit/>
          </a:bodyPr>
          <a:lstStyle/>
          <a:p>
            <a:pPr algn="l">
              <a:spcAft>
                <a:spcPts val="1800"/>
              </a:spcAft>
              <a:defRPr sz="1500" b="0">
                <a:solidFill>
                  <a:srgbClr val="1A1A2E"/>
                </a:solidFill>
                <a:latin typeface="Calibri"/>
              </a:defRPr>
            </a:pPr>
            <a:endParaRPr lang="en-US" dirty="0"/>
          </a:p>
          <a:p>
            <a:pPr algn="l">
              <a:spcAft>
                <a:spcPts val="1800"/>
              </a:spcAft>
              <a:defRPr sz="1500" b="0">
                <a:solidFill>
                  <a:srgbClr val="1A1A2E"/>
                </a:solidFill>
                <a:latin typeface="Calibri"/>
              </a:defRPr>
            </a:pPr>
            <a:r>
              <a:rPr dirty="0"/>
              <a:t>🌆 Managing large-scale urban infrastructure assets efficiently — roads, traffic signals, utility networks, and public facilities.</a:t>
            </a:r>
          </a:p>
          <a:p>
            <a:pPr algn="l">
              <a:spcAft>
                <a:spcPts val="1800"/>
              </a:spcAft>
              <a:defRPr sz="1500" b="0">
                <a:solidFill>
                  <a:srgbClr val="1A1A2E"/>
                </a:solidFill>
                <a:latin typeface="Calibri"/>
              </a:defRPr>
            </a:pPr>
            <a:r>
              <a:rPr dirty="0"/>
              <a:t>🚦 Real-time traffic data analysis for congestion detection, density calculation, and urban mobility optimization.</a:t>
            </a:r>
          </a:p>
          <a:p>
            <a:pPr algn="l">
              <a:spcAft>
                <a:spcPts val="1800"/>
              </a:spcAft>
              <a:defRPr sz="1500" b="0">
                <a:solidFill>
                  <a:srgbClr val="1A1A2E"/>
                </a:solidFill>
                <a:latin typeface="Calibri"/>
              </a:defRPr>
            </a:pPr>
            <a:r>
              <a:rPr dirty="0"/>
              <a:t>🗺️ Complex road network connectivity analysis to identify disconnected regions, optimize routes, and reduce emergency response times.</a:t>
            </a:r>
          </a:p>
          <a:p>
            <a:pPr algn="l">
              <a:spcAft>
                <a:spcPts val="1800"/>
              </a:spcAft>
              <a:defRPr sz="1500" b="0">
                <a:solidFill>
                  <a:srgbClr val="1A1A2E"/>
                </a:solidFill>
                <a:latin typeface="Calibri"/>
              </a:defRPr>
            </a:pPr>
            <a:r>
              <a:rPr dirty="0"/>
              <a:t>📊 Handling massive city datasets with fast search and priority-based resource allocation.</a:t>
            </a:r>
          </a:p>
          <a:p>
            <a:pPr algn="l">
              <a:spcAft>
                <a:spcPts val="1800"/>
              </a:spcAft>
              <a:defRPr sz="1500" b="0">
                <a:solidFill>
                  <a:srgbClr val="1A1A2E"/>
                </a:solidFill>
                <a:latin typeface="Calibri"/>
              </a:defRPr>
            </a:pPr>
            <a:r>
              <a:rPr dirty="0"/>
              <a:t>📋 Scheduling city maintenance projects and allocating limited budget/resources across competing infrastructure needs.</a:t>
            </a:r>
          </a:p>
        </p:txBody>
      </p:sp>
      <p:sp>
        <p:nvSpPr>
          <p:cNvPr id="6" name="Rounded Rectangle 5"/>
          <p:cNvSpPr/>
          <p:nvPr/>
        </p:nvSpPr>
        <p:spPr>
          <a:xfrm>
            <a:off x="731520" y="5303520"/>
            <a:ext cx="10515600" cy="640080"/>
          </a:xfrm>
          <a:prstGeom prst="roundRect">
            <a:avLst>
              <a:gd name="adj" fmla="val 10000"/>
            </a:avLst>
          </a:prstGeom>
          <a:solidFill>
            <a:srgbClr val="E3F2FD"/>
          </a:solidFill>
          <a:ln w="19050">
            <a:solidFill>
              <a:srgbClr val="2C6FB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5349240"/>
            <a:ext cx="10058400" cy="548640"/>
          </a:xfrm>
          <a:prstGeom prst="rect">
            <a:avLst/>
          </a:prstGeom>
          <a:noFill/>
        </p:spPr>
        <p:txBody>
          <a:bodyPr wrap="square">
            <a:spAutoFit/>
          </a:bodyPr>
          <a:lstStyle/>
          <a:p>
            <a:pPr algn="ctr">
              <a:defRPr sz="1500" b="1">
                <a:solidFill>
                  <a:srgbClr val="2C6FBB"/>
                </a:solidFill>
                <a:latin typeface="Calibri"/>
              </a:defRPr>
            </a:pPr>
            <a:r>
              <a:t>Challenge: How can Data Structures &amp; Algorithms optimize every layer of smart city operations at scale?</a:t>
            </a:r>
          </a:p>
        </p:txBody>
      </p:sp>
      <p:sp>
        <p:nvSpPr>
          <p:cNvPr id="8" name="TextBox 7"/>
          <p:cNvSpPr txBox="1"/>
          <p:nvPr/>
        </p:nvSpPr>
        <p:spPr>
          <a:xfrm>
            <a:off x="457200" y="6400800"/>
            <a:ext cx="10972800" cy="365760"/>
          </a:xfrm>
          <a:prstGeom prst="rect">
            <a:avLst/>
          </a:prstGeom>
          <a:noFill/>
        </p:spPr>
        <p:txBody>
          <a:bodyPr wrap="square">
            <a:spAutoFit/>
          </a:bodyPr>
          <a:lstStyle/>
          <a:p>
            <a:pPr algn="ctr">
              <a:defRPr sz="900" b="0">
                <a:solidFill>
                  <a:srgbClr val="55556E"/>
                </a:solidFill>
                <a:latin typeface="Calibri"/>
              </a:defRPr>
            </a:pPr>
            <a:r>
              <a:t>UrbanAI | Smart City Infrastructure Optimization Platform</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0F4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2C6F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74320"/>
            <a:ext cx="10972800" cy="640080"/>
          </a:xfrm>
          <a:prstGeom prst="rect">
            <a:avLst/>
          </a:prstGeom>
          <a:noFill/>
        </p:spPr>
        <p:txBody>
          <a:bodyPr wrap="square">
            <a:spAutoFit/>
          </a:bodyPr>
          <a:lstStyle/>
          <a:p>
            <a:pPr algn="l">
              <a:defRPr sz="3000" b="1">
                <a:solidFill>
                  <a:srgbClr val="2C6FBB"/>
                </a:solidFill>
                <a:latin typeface="Calibri"/>
              </a:defRPr>
            </a:pPr>
            <a:r>
              <a:t>Abstract</a:t>
            </a:r>
          </a:p>
        </p:txBody>
      </p:sp>
      <p:sp>
        <p:nvSpPr>
          <p:cNvPr id="4" name="Rectangle 3"/>
          <p:cNvSpPr/>
          <p:nvPr/>
        </p:nvSpPr>
        <p:spPr>
          <a:xfrm>
            <a:off x="548640" y="1097280"/>
            <a:ext cx="10972800" cy="27432"/>
          </a:xfrm>
          <a:prstGeom prst="rect">
            <a:avLst/>
          </a:prstGeom>
          <a:solidFill>
            <a:srgbClr val="2C6F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463040"/>
            <a:ext cx="10515600" cy="1828800"/>
          </a:xfrm>
          <a:prstGeom prst="rect">
            <a:avLst/>
          </a:prstGeom>
          <a:noFill/>
        </p:spPr>
        <p:txBody>
          <a:bodyPr wrap="square">
            <a:spAutoFit/>
          </a:bodyPr>
          <a:lstStyle/>
          <a:p>
            <a:pPr algn="l">
              <a:defRPr sz="1500" b="0">
                <a:solidFill>
                  <a:srgbClr val="1A1A2E"/>
                </a:solidFill>
                <a:latin typeface="Calibri"/>
              </a:defRPr>
            </a:pPr>
            <a:r>
              <a:t>UrbanAI is a comprehensive smart city infrastructure optimization platform built using Java, leveraging advanced Data Structures and Algorithms to address real-world urban management challenges. The platform integrates five core DSA modules covering balanced search trees (AVL Trees), multiway indexing (Fenwick Tree), graph algorithms (BFS, DFS), shortest path optimization (Dijkstra, Floyd-Warshall), and greedy/DP optimization techniques (Activity Selection, Fractional Knapsack, 0/1 Knapsack, Edit Distance). Each module is applied to a specific urban scenario—infrastructure asset management, traffic analytics, road network analysis, emergency routing, maintenance scheduling, and citizen service prioritization. UrbanAI demonstrates how theoretical DSA concepts translate into practical, scalable solutions for smart city operations.</a:t>
            </a:r>
          </a:p>
        </p:txBody>
      </p:sp>
      <p:sp>
        <p:nvSpPr>
          <p:cNvPr id="6" name="TextBox 5"/>
          <p:cNvSpPr txBox="1"/>
          <p:nvPr/>
        </p:nvSpPr>
        <p:spPr>
          <a:xfrm>
            <a:off x="731520" y="3291840"/>
            <a:ext cx="10515600" cy="457200"/>
          </a:xfrm>
          <a:prstGeom prst="rect">
            <a:avLst/>
          </a:prstGeom>
          <a:noFill/>
        </p:spPr>
        <p:txBody>
          <a:bodyPr wrap="square">
            <a:spAutoFit/>
          </a:bodyPr>
          <a:lstStyle/>
          <a:p>
            <a:pPr algn="l">
              <a:defRPr sz="2000" b="1">
                <a:solidFill>
                  <a:srgbClr val="2C6FBB"/>
                </a:solidFill>
                <a:latin typeface="Calibri"/>
              </a:defRPr>
            </a:pPr>
            <a:r>
              <a:t>Key Highlights</a:t>
            </a:r>
          </a:p>
        </p:txBody>
      </p:sp>
      <p:sp>
        <p:nvSpPr>
          <p:cNvPr id="7" name="TextBox 6"/>
          <p:cNvSpPr txBox="1"/>
          <p:nvPr/>
        </p:nvSpPr>
        <p:spPr>
          <a:xfrm>
            <a:off x="731520" y="3840480"/>
            <a:ext cx="10515600" cy="1759456"/>
          </a:xfrm>
          <a:prstGeom prst="rect">
            <a:avLst/>
          </a:prstGeom>
          <a:noFill/>
        </p:spPr>
        <p:txBody>
          <a:bodyPr wrap="square">
            <a:spAutoFit/>
          </a:bodyPr>
          <a:lstStyle/>
          <a:p>
            <a:pPr algn="l">
              <a:spcAft>
                <a:spcPts val="1300"/>
              </a:spcAft>
              <a:defRPr sz="1300" b="0">
                <a:solidFill>
                  <a:srgbClr val="55556E"/>
                </a:solidFill>
                <a:latin typeface="Calibri"/>
              </a:defRPr>
            </a:pPr>
            <a:r>
              <a:rPr dirty="0"/>
              <a:t>✓ PostgreSQL integration for persistent data storage across all modules</a:t>
            </a:r>
          </a:p>
          <a:p>
            <a:pPr algn="l">
              <a:spcAft>
                <a:spcPts val="1300"/>
              </a:spcAft>
              <a:defRPr sz="1300" b="0">
                <a:solidFill>
                  <a:srgbClr val="55556E"/>
                </a:solidFill>
                <a:latin typeface="Calibri"/>
              </a:defRPr>
            </a:pPr>
            <a:r>
              <a:rPr dirty="0"/>
              <a:t>✓ Console-based interactive menu system for real-time demo of each algorithm</a:t>
            </a:r>
          </a:p>
          <a:p>
            <a:pPr algn="l">
              <a:spcAft>
                <a:spcPts val="1300"/>
              </a:spcAft>
              <a:defRPr sz="1300" b="0">
                <a:solidFill>
                  <a:srgbClr val="55556E"/>
                </a:solidFill>
                <a:latin typeface="Calibri"/>
              </a:defRPr>
            </a:pPr>
            <a:r>
              <a:rPr dirty="0"/>
              <a:t>✓ 15+ distinct DSA implementations, each mapped to a smart city use case</a:t>
            </a:r>
          </a:p>
          <a:p>
            <a:pPr algn="l">
              <a:spcAft>
                <a:spcPts val="1300"/>
              </a:spcAft>
              <a:defRPr sz="1300" b="0">
                <a:solidFill>
                  <a:srgbClr val="55556E"/>
                </a:solidFill>
                <a:latin typeface="Calibri"/>
              </a:defRPr>
            </a:pPr>
            <a:r>
              <a:rPr dirty="0"/>
              <a:t>✓ Modular architecture (5 modules) following object-oriented design principles</a:t>
            </a:r>
          </a:p>
          <a:p>
            <a:pPr algn="l">
              <a:spcAft>
                <a:spcPts val="1300"/>
              </a:spcAft>
              <a:defRPr sz="1300" b="0">
                <a:solidFill>
                  <a:srgbClr val="55556E"/>
                </a:solidFill>
                <a:latin typeface="Calibri"/>
              </a:defRPr>
            </a:pPr>
            <a:r>
              <a:rPr dirty="0"/>
              <a:t>✓ End-to-end flow from data input → algorithm processing → output visualization</a:t>
            </a:r>
          </a:p>
        </p:txBody>
      </p:sp>
      <p:sp>
        <p:nvSpPr>
          <p:cNvPr id="8" name="TextBox 7"/>
          <p:cNvSpPr txBox="1"/>
          <p:nvPr/>
        </p:nvSpPr>
        <p:spPr>
          <a:xfrm>
            <a:off x="457200" y="6400800"/>
            <a:ext cx="10972800" cy="365760"/>
          </a:xfrm>
          <a:prstGeom prst="rect">
            <a:avLst/>
          </a:prstGeom>
          <a:noFill/>
        </p:spPr>
        <p:txBody>
          <a:bodyPr wrap="square">
            <a:spAutoFit/>
          </a:bodyPr>
          <a:lstStyle/>
          <a:p>
            <a:pPr algn="ctr">
              <a:defRPr sz="900" b="0">
                <a:solidFill>
                  <a:srgbClr val="55556E"/>
                </a:solidFill>
                <a:latin typeface="Calibri"/>
              </a:defRPr>
            </a:pPr>
            <a:r>
              <a:t>UrbanAI | Smart City Infrastructure Optimization Platform</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0F4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2C6F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74320"/>
            <a:ext cx="10972800" cy="640080"/>
          </a:xfrm>
          <a:prstGeom prst="rect">
            <a:avLst/>
          </a:prstGeom>
          <a:noFill/>
        </p:spPr>
        <p:txBody>
          <a:bodyPr wrap="square">
            <a:spAutoFit/>
          </a:bodyPr>
          <a:lstStyle/>
          <a:p>
            <a:pPr algn="l">
              <a:defRPr sz="3000" b="1">
                <a:solidFill>
                  <a:srgbClr val="2C6FBB"/>
                </a:solidFill>
                <a:latin typeface="Calibri"/>
              </a:defRPr>
            </a:pPr>
            <a:r>
              <a:t>Software &amp; Hardware Requirements</a:t>
            </a:r>
          </a:p>
        </p:txBody>
      </p:sp>
      <p:sp>
        <p:nvSpPr>
          <p:cNvPr id="4" name="Rectangle 3"/>
          <p:cNvSpPr/>
          <p:nvPr/>
        </p:nvSpPr>
        <p:spPr>
          <a:xfrm>
            <a:off x="548640" y="1097280"/>
            <a:ext cx="10972800" cy="27432"/>
          </a:xfrm>
          <a:prstGeom prst="rect">
            <a:avLst/>
          </a:prstGeom>
          <a:solidFill>
            <a:srgbClr val="2C6F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48640" y="1371600"/>
            <a:ext cx="5303520" cy="4754880"/>
          </a:xfrm>
          <a:prstGeom prst="roundRect">
            <a:avLst>
              <a:gd name="adj" fmla="val 10000"/>
            </a:avLst>
          </a:prstGeom>
          <a:solidFill>
            <a:srgbClr val="E3F2FD"/>
          </a:solidFill>
          <a:ln w="19050">
            <a:solidFill>
              <a:srgbClr val="2C6FB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1463040"/>
            <a:ext cx="4937760" cy="457200"/>
          </a:xfrm>
          <a:prstGeom prst="rect">
            <a:avLst/>
          </a:prstGeom>
          <a:noFill/>
        </p:spPr>
        <p:txBody>
          <a:bodyPr wrap="square">
            <a:spAutoFit/>
          </a:bodyPr>
          <a:lstStyle/>
          <a:p>
            <a:pPr algn="l">
              <a:defRPr sz="2000" b="1">
                <a:solidFill>
                  <a:srgbClr val="2C6FBB"/>
                </a:solidFill>
                <a:latin typeface="Calibri"/>
              </a:defRPr>
            </a:pPr>
            <a:r>
              <a:t>💻 Software Stack</a:t>
            </a:r>
          </a:p>
        </p:txBody>
      </p:sp>
      <p:sp>
        <p:nvSpPr>
          <p:cNvPr id="7" name="TextBox 6"/>
          <p:cNvSpPr txBox="1"/>
          <p:nvPr/>
        </p:nvSpPr>
        <p:spPr>
          <a:xfrm>
            <a:off x="731520" y="2011680"/>
            <a:ext cx="4937760" cy="3198311"/>
          </a:xfrm>
          <a:prstGeom prst="rect">
            <a:avLst/>
          </a:prstGeom>
          <a:noFill/>
        </p:spPr>
        <p:txBody>
          <a:bodyPr wrap="square">
            <a:spAutoFit/>
          </a:bodyPr>
          <a:lstStyle/>
          <a:p>
            <a:pPr algn="l">
              <a:spcAft>
                <a:spcPts val="519"/>
              </a:spcAft>
              <a:defRPr sz="1300" b="0">
                <a:solidFill>
                  <a:srgbClr val="1A1A2E"/>
                </a:solidFill>
                <a:latin typeface="Calibri"/>
              </a:defRPr>
            </a:pPr>
            <a:r>
              <a:rPr dirty="0"/>
              <a:t>• Java JDK 11+ (Primary Development)</a:t>
            </a:r>
          </a:p>
          <a:p>
            <a:pPr algn="l">
              <a:spcAft>
                <a:spcPts val="519"/>
              </a:spcAft>
              <a:defRPr sz="1300" b="0">
                <a:solidFill>
                  <a:srgbClr val="1A1A2E"/>
                </a:solidFill>
                <a:latin typeface="Calibri"/>
              </a:defRPr>
            </a:pPr>
            <a:r>
              <a:rPr dirty="0"/>
              <a:t>• PostgreSQL 15+ (Database Server)</a:t>
            </a:r>
          </a:p>
          <a:p>
            <a:pPr algn="l">
              <a:spcAft>
                <a:spcPts val="519"/>
              </a:spcAft>
              <a:defRPr sz="1300" b="0">
                <a:solidFill>
                  <a:srgbClr val="1A1A2E"/>
                </a:solidFill>
                <a:latin typeface="Calibri"/>
              </a:defRPr>
            </a:pPr>
            <a:r>
              <a:rPr dirty="0"/>
              <a:t>• PostgreSQL JDBC Driver (v42.7.11)</a:t>
            </a:r>
          </a:p>
          <a:p>
            <a:pPr algn="l">
              <a:spcAft>
                <a:spcPts val="519"/>
              </a:spcAft>
              <a:defRPr sz="1300" b="0">
                <a:solidFill>
                  <a:srgbClr val="1A1A2E"/>
                </a:solidFill>
                <a:latin typeface="Calibri"/>
              </a:defRPr>
            </a:pPr>
            <a:r>
              <a:rPr dirty="0"/>
              <a:t>• Visual Studio Code / IntelliJ IDEA (IDE)</a:t>
            </a:r>
          </a:p>
          <a:p>
            <a:pPr algn="l">
              <a:spcAft>
                <a:spcPts val="519"/>
              </a:spcAft>
              <a:defRPr sz="1300" b="0">
                <a:solidFill>
                  <a:srgbClr val="1A1A2E"/>
                </a:solidFill>
                <a:latin typeface="Calibri"/>
              </a:defRPr>
            </a:pPr>
            <a:r>
              <a:rPr dirty="0"/>
              <a:t>• Windows 10/11 (Development Platform)</a:t>
            </a:r>
          </a:p>
          <a:p>
            <a:pPr algn="l">
              <a:spcAft>
                <a:spcPts val="519"/>
              </a:spcAft>
              <a:defRPr sz="1300" b="0">
                <a:solidFill>
                  <a:srgbClr val="1A1A2E"/>
                </a:solidFill>
                <a:latin typeface="Calibri"/>
              </a:defRPr>
            </a:pPr>
            <a:r>
              <a:rPr dirty="0"/>
              <a:t>• pgAdmin 4 (Database Management)</a:t>
            </a:r>
          </a:p>
          <a:p>
            <a:pPr algn="l">
              <a:spcAft>
                <a:spcPts val="519"/>
              </a:spcAft>
              <a:defRPr sz="1300" b="0">
                <a:solidFill>
                  <a:srgbClr val="1A1A2E"/>
                </a:solidFill>
                <a:latin typeface="Calibri"/>
              </a:defRPr>
            </a:pPr>
            <a:r>
              <a:rPr dirty="0"/>
              <a:t>• Git (Version Control)</a:t>
            </a:r>
          </a:p>
          <a:p>
            <a:pPr algn="l">
              <a:spcAft>
                <a:spcPts val="519"/>
              </a:spcAft>
              <a:defRPr sz="1300" b="0">
                <a:solidFill>
                  <a:srgbClr val="1A1A2E"/>
                </a:solidFill>
                <a:latin typeface="Calibri"/>
              </a:defRPr>
            </a:pPr>
            <a:endParaRPr dirty="0"/>
          </a:p>
          <a:p>
            <a:pPr algn="l">
              <a:spcAft>
                <a:spcPts val="519"/>
              </a:spcAft>
              <a:defRPr sz="1300" b="0">
                <a:solidFill>
                  <a:srgbClr val="1A1A2E"/>
                </a:solidFill>
                <a:latin typeface="Calibri"/>
              </a:defRPr>
            </a:pPr>
            <a:r>
              <a:rPr dirty="0"/>
              <a:t>Programming Language: Java</a:t>
            </a:r>
          </a:p>
          <a:p>
            <a:pPr algn="l">
              <a:spcAft>
                <a:spcPts val="519"/>
              </a:spcAft>
              <a:defRPr sz="1300" b="0">
                <a:solidFill>
                  <a:srgbClr val="1A1A2E"/>
                </a:solidFill>
                <a:latin typeface="Calibri"/>
              </a:defRPr>
            </a:pPr>
            <a:r>
              <a:rPr dirty="0"/>
              <a:t>Database: PostgreSQL (Port 7000)</a:t>
            </a:r>
          </a:p>
          <a:p>
            <a:pPr algn="l">
              <a:spcAft>
                <a:spcPts val="519"/>
              </a:spcAft>
              <a:defRPr sz="1300" b="0">
                <a:solidFill>
                  <a:srgbClr val="1A1A2E"/>
                </a:solidFill>
                <a:latin typeface="Calibri"/>
              </a:defRPr>
            </a:pPr>
            <a:r>
              <a:rPr dirty="0"/>
              <a:t>JDBC for database connectivity</a:t>
            </a:r>
          </a:p>
          <a:p>
            <a:pPr algn="l">
              <a:spcAft>
                <a:spcPts val="519"/>
              </a:spcAft>
              <a:defRPr sz="1300" b="0">
                <a:solidFill>
                  <a:srgbClr val="1A1A2E"/>
                </a:solidFill>
                <a:latin typeface="Calibri"/>
              </a:defRPr>
            </a:pPr>
            <a:endParaRPr dirty="0"/>
          </a:p>
        </p:txBody>
      </p:sp>
      <p:sp>
        <p:nvSpPr>
          <p:cNvPr id="8" name="Rounded Rectangle 7"/>
          <p:cNvSpPr/>
          <p:nvPr/>
        </p:nvSpPr>
        <p:spPr>
          <a:xfrm>
            <a:off x="6217920" y="1371600"/>
            <a:ext cx="5303520" cy="4754880"/>
          </a:xfrm>
          <a:prstGeom prst="roundRect">
            <a:avLst>
              <a:gd name="adj" fmla="val 10000"/>
            </a:avLst>
          </a:prstGeom>
          <a:solidFill>
            <a:srgbClr val="FDF2E3"/>
          </a:solidFill>
          <a:ln w="19050">
            <a:solidFill>
              <a:srgbClr val="E67E2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00800" y="1463040"/>
            <a:ext cx="4937760" cy="457200"/>
          </a:xfrm>
          <a:prstGeom prst="rect">
            <a:avLst/>
          </a:prstGeom>
          <a:noFill/>
        </p:spPr>
        <p:txBody>
          <a:bodyPr wrap="square">
            <a:spAutoFit/>
          </a:bodyPr>
          <a:lstStyle/>
          <a:p>
            <a:pPr algn="l">
              <a:defRPr sz="2000" b="1">
                <a:solidFill>
                  <a:srgbClr val="E67E22"/>
                </a:solidFill>
                <a:latin typeface="Calibri"/>
              </a:defRPr>
            </a:pPr>
            <a:r>
              <a:t>🖥️ Hardware Requirements</a:t>
            </a:r>
          </a:p>
        </p:txBody>
      </p:sp>
      <p:sp>
        <p:nvSpPr>
          <p:cNvPr id="10" name="TextBox 9"/>
          <p:cNvSpPr txBox="1"/>
          <p:nvPr/>
        </p:nvSpPr>
        <p:spPr>
          <a:xfrm>
            <a:off x="6400800" y="2011680"/>
            <a:ext cx="4937760" cy="2405787"/>
          </a:xfrm>
          <a:prstGeom prst="rect">
            <a:avLst/>
          </a:prstGeom>
          <a:noFill/>
        </p:spPr>
        <p:txBody>
          <a:bodyPr wrap="square">
            <a:spAutoFit/>
          </a:bodyPr>
          <a:lstStyle/>
          <a:p>
            <a:pPr algn="l">
              <a:spcAft>
                <a:spcPts val="519"/>
              </a:spcAft>
              <a:defRPr sz="1300" b="0">
                <a:solidFill>
                  <a:srgbClr val="1A1A2E"/>
                </a:solidFill>
                <a:latin typeface="Calibri"/>
              </a:defRPr>
            </a:pPr>
            <a:endParaRPr lang="en-US" dirty="0"/>
          </a:p>
          <a:p>
            <a:pPr algn="l">
              <a:spcAft>
                <a:spcPts val="519"/>
              </a:spcAft>
              <a:defRPr sz="1300" b="0">
                <a:solidFill>
                  <a:srgbClr val="1A1A2E"/>
                </a:solidFill>
                <a:latin typeface="Calibri"/>
              </a:defRPr>
            </a:pPr>
            <a:r>
              <a:rPr dirty="0"/>
              <a:t>• Processor: Intel Core i5 / AMD Ryzen 5+</a:t>
            </a:r>
          </a:p>
          <a:p>
            <a:pPr algn="l">
              <a:spcAft>
                <a:spcPts val="519"/>
              </a:spcAft>
              <a:defRPr sz="1300" b="0">
                <a:solidFill>
                  <a:srgbClr val="1A1A2E"/>
                </a:solidFill>
                <a:latin typeface="Calibri"/>
              </a:defRPr>
            </a:pPr>
            <a:r>
              <a:rPr dirty="0"/>
              <a:t>• RAM: 8 GB minimum (16 GB recommended)</a:t>
            </a:r>
          </a:p>
          <a:p>
            <a:pPr algn="l">
              <a:spcAft>
                <a:spcPts val="519"/>
              </a:spcAft>
              <a:defRPr sz="1300" b="0">
                <a:solidFill>
                  <a:srgbClr val="1A1A2E"/>
                </a:solidFill>
                <a:latin typeface="Calibri"/>
              </a:defRPr>
            </a:pPr>
            <a:r>
              <a:rPr dirty="0"/>
              <a:t>• Storage: 256 GB SSD (for database &amp; code)</a:t>
            </a:r>
          </a:p>
          <a:p>
            <a:pPr algn="l">
              <a:spcAft>
                <a:spcPts val="519"/>
              </a:spcAft>
              <a:defRPr sz="1300" b="0">
                <a:solidFill>
                  <a:srgbClr val="1A1A2E"/>
                </a:solidFill>
                <a:latin typeface="Calibri"/>
              </a:defRPr>
            </a:pPr>
            <a:r>
              <a:rPr dirty="0"/>
              <a:t>• OS: Windows 10 / 11 (64-bit)</a:t>
            </a:r>
          </a:p>
          <a:p>
            <a:pPr algn="l">
              <a:spcAft>
                <a:spcPts val="519"/>
              </a:spcAft>
              <a:defRPr sz="1300" b="0">
                <a:solidFill>
                  <a:srgbClr val="1A1A2E"/>
                </a:solidFill>
                <a:latin typeface="Calibri"/>
              </a:defRPr>
            </a:pPr>
            <a:r>
              <a:rPr dirty="0"/>
              <a:t>• Network: Localhost (127.0.0.1)</a:t>
            </a:r>
          </a:p>
          <a:p>
            <a:pPr algn="l">
              <a:spcAft>
                <a:spcPts val="519"/>
              </a:spcAft>
              <a:defRPr sz="1300" b="0">
                <a:solidFill>
                  <a:srgbClr val="1A1A2E"/>
                </a:solidFill>
                <a:latin typeface="Calibri"/>
              </a:defRPr>
            </a:pPr>
            <a:r>
              <a:rPr dirty="0"/>
              <a:t>• Display: 1920x1080 resolution</a:t>
            </a:r>
          </a:p>
          <a:p>
            <a:pPr algn="l">
              <a:spcAft>
                <a:spcPts val="519"/>
              </a:spcAft>
              <a:defRPr sz="1300" b="0">
                <a:solidFill>
                  <a:srgbClr val="1A1A2E"/>
                </a:solidFill>
                <a:latin typeface="Calibri"/>
              </a:defRPr>
            </a:pPr>
            <a:endParaRPr dirty="0"/>
          </a:p>
          <a:p>
            <a:pPr algn="l">
              <a:spcAft>
                <a:spcPts val="519"/>
              </a:spcAft>
              <a:defRPr sz="1300" b="0">
                <a:solidFill>
                  <a:srgbClr val="1A1A2E"/>
                </a:solidFill>
                <a:latin typeface="Calibri"/>
              </a:defRPr>
            </a:pPr>
            <a:endParaRPr dirty="0"/>
          </a:p>
        </p:txBody>
      </p:sp>
      <p:sp>
        <p:nvSpPr>
          <p:cNvPr id="11" name="TextBox 10"/>
          <p:cNvSpPr txBox="1"/>
          <p:nvPr/>
        </p:nvSpPr>
        <p:spPr>
          <a:xfrm>
            <a:off x="457200" y="6400800"/>
            <a:ext cx="10972800" cy="365760"/>
          </a:xfrm>
          <a:prstGeom prst="rect">
            <a:avLst/>
          </a:prstGeom>
          <a:noFill/>
        </p:spPr>
        <p:txBody>
          <a:bodyPr wrap="square">
            <a:spAutoFit/>
          </a:bodyPr>
          <a:lstStyle/>
          <a:p>
            <a:pPr algn="ctr">
              <a:defRPr sz="900" b="0">
                <a:solidFill>
                  <a:srgbClr val="55556E"/>
                </a:solidFill>
                <a:latin typeface="Calibri"/>
              </a:defRPr>
            </a:pPr>
            <a:r>
              <a:t>UrbanAI | Smart City Infrastructure Optimization Platform</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0F4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2C6F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74320"/>
            <a:ext cx="10972800" cy="640080"/>
          </a:xfrm>
          <a:prstGeom prst="rect">
            <a:avLst/>
          </a:prstGeom>
          <a:noFill/>
        </p:spPr>
        <p:txBody>
          <a:bodyPr wrap="square">
            <a:spAutoFit/>
          </a:bodyPr>
          <a:lstStyle/>
          <a:p>
            <a:pPr algn="l">
              <a:defRPr sz="3000" b="1">
                <a:solidFill>
                  <a:srgbClr val="2C6FBB"/>
                </a:solidFill>
                <a:latin typeface="Calibri"/>
              </a:defRPr>
            </a:pPr>
            <a:r>
              <a:t>System Architecture</a:t>
            </a:r>
          </a:p>
        </p:txBody>
      </p:sp>
      <p:sp>
        <p:nvSpPr>
          <p:cNvPr id="4" name="TextBox 3"/>
          <p:cNvSpPr txBox="1"/>
          <p:nvPr/>
        </p:nvSpPr>
        <p:spPr>
          <a:xfrm>
            <a:off x="548640" y="777240"/>
            <a:ext cx="10972800" cy="365760"/>
          </a:xfrm>
          <a:prstGeom prst="rect">
            <a:avLst/>
          </a:prstGeom>
          <a:noFill/>
        </p:spPr>
        <p:txBody>
          <a:bodyPr wrap="square">
            <a:spAutoFit/>
          </a:bodyPr>
          <a:lstStyle/>
          <a:p>
            <a:pPr algn="l">
              <a:defRPr sz="1600" b="0">
                <a:solidFill>
                  <a:srgbClr val="55556E"/>
                </a:solidFill>
                <a:latin typeface="Calibri"/>
              </a:defRPr>
            </a:pPr>
            <a:r>
              <a:t>Multi-layer architecture: UI → Controller → Modules → DAO → Database → Output</a:t>
            </a:r>
          </a:p>
        </p:txBody>
      </p:sp>
      <p:sp>
        <p:nvSpPr>
          <p:cNvPr id="5" name="Rectangle 4"/>
          <p:cNvSpPr/>
          <p:nvPr/>
        </p:nvSpPr>
        <p:spPr>
          <a:xfrm>
            <a:off x="548640" y="1097280"/>
            <a:ext cx="10972800" cy="27432"/>
          </a:xfrm>
          <a:prstGeom prst="rect">
            <a:avLst/>
          </a:prstGeom>
          <a:solidFill>
            <a:srgbClr val="2C6F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4389120" y="1280160"/>
            <a:ext cx="3291840" cy="411480"/>
          </a:xfrm>
          <a:prstGeom prst="roundRect">
            <a:avLst>
              <a:gd name="adj" fmla="val 10000"/>
            </a:avLst>
          </a:prstGeom>
          <a:solidFill>
            <a:srgbClr val="2C6FBB"/>
          </a:solidFill>
          <a:ln w="19050">
            <a:solidFill>
              <a:srgbClr val="2C6FB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defRPr sz="1100" b="1">
                <a:solidFill>
                  <a:srgbClr val="FFFFFF"/>
                </a:solidFill>
                <a:latin typeface="Calibri"/>
              </a:defRPr>
            </a:pPr>
            <a:r>
              <a:t>LAYER 1: USER INTERFACE (Console Menu + Scanner Input)</a:t>
            </a:r>
          </a:p>
        </p:txBody>
      </p:sp>
      <p:sp>
        <p:nvSpPr>
          <p:cNvPr id="7" name="Down Arrow 6"/>
          <p:cNvSpPr/>
          <p:nvPr/>
        </p:nvSpPr>
        <p:spPr>
          <a:xfrm>
            <a:off x="5919355" y="1751076"/>
            <a:ext cx="274320" cy="182880"/>
          </a:xfrm>
          <a:prstGeom prst="downArrow">
            <a:avLst/>
          </a:prstGeom>
          <a:solidFill>
            <a:srgbClr val="2C6F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4389120" y="1965960"/>
            <a:ext cx="3291840" cy="411480"/>
          </a:xfrm>
          <a:prstGeom prst="roundRect">
            <a:avLst>
              <a:gd name="adj" fmla="val 10000"/>
            </a:avLst>
          </a:prstGeom>
          <a:solidFill>
            <a:srgbClr val="2C6FBB"/>
          </a:solidFill>
          <a:ln w="19050">
            <a:solidFill>
              <a:srgbClr val="2C6FB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defRPr sz="1100" b="1">
                <a:solidFill>
                  <a:srgbClr val="FFFFFF"/>
                </a:solidFill>
                <a:latin typeface="Calibri"/>
              </a:defRPr>
            </a:pPr>
            <a:r>
              <a:t>LAYER 2: APPLICATION CONTROLLER (Main.java - Switch-Case Dispatcher)</a:t>
            </a:r>
          </a:p>
        </p:txBody>
      </p:sp>
      <p:sp>
        <p:nvSpPr>
          <p:cNvPr id="9" name="Down Arrow 8"/>
          <p:cNvSpPr/>
          <p:nvPr/>
        </p:nvSpPr>
        <p:spPr>
          <a:xfrm>
            <a:off x="1485900" y="2377440"/>
            <a:ext cx="228600" cy="182880"/>
          </a:xfrm>
          <a:prstGeom prst="downArrow">
            <a:avLst/>
          </a:prstGeom>
          <a:solidFill>
            <a:srgbClr val="2C6F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Down Arrow 9"/>
          <p:cNvSpPr/>
          <p:nvPr/>
        </p:nvSpPr>
        <p:spPr>
          <a:xfrm>
            <a:off x="3819906" y="2404872"/>
            <a:ext cx="228600" cy="182880"/>
          </a:xfrm>
          <a:prstGeom prst="downArrow">
            <a:avLst/>
          </a:prstGeom>
          <a:solidFill>
            <a:srgbClr val="2C6F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Down Arrow 10"/>
          <p:cNvSpPr/>
          <p:nvPr/>
        </p:nvSpPr>
        <p:spPr>
          <a:xfrm>
            <a:off x="6216535" y="2466727"/>
            <a:ext cx="228600" cy="182880"/>
          </a:xfrm>
          <a:prstGeom prst="downArrow">
            <a:avLst/>
          </a:prstGeom>
          <a:solidFill>
            <a:srgbClr val="2C6F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Down Arrow 11"/>
          <p:cNvSpPr/>
          <p:nvPr/>
        </p:nvSpPr>
        <p:spPr>
          <a:xfrm>
            <a:off x="8562663" y="2487949"/>
            <a:ext cx="228600" cy="182880"/>
          </a:xfrm>
          <a:prstGeom prst="downArrow">
            <a:avLst/>
          </a:prstGeom>
          <a:solidFill>
            <a:srgbClr val="2C6F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Down Arrow 12"/>
          <p:cNvSpPr/>
          <p:nvPr/>
        </p:nvSpPr>
        <p:spPr>
          <a:xfrm>
            <a:off x="10832870" y="2449630"/>
            <a:ext cx="228600" cy="182880"/>
          </a:xfrm>
          <a:prstGeom prst="downArrow">
            <a:avLst/>
          </a:prstGeom>
          <a:solidFill>
            <a:srgbClr val="2C6F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548640" y="2785336"/>
            <a:ext cx="2103120" cy="594360"/>
          </a:xfrm>
          <a:prstGeom prst="roundRect">
            <a:avLst>
              <a:gd name="adj" fmla="val 10000"/>
            </a:avLst>
          </a:prstGeom>
          <a:solidFill>
            <a:srgbClr val="BBDEFB"/>
          </a:solidFill>
          <a:ln w="19050">
            <a:solidFill>
              <a:srgbClr val="2C6FB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defRPr sz="900" b="1">
                <a:solidFill>
                  <a:srgbClr val="1A1A2E"/>
                </a:solidFill>
                <a:latin typeface="Calibri"/>
              </a:defRPr>
            </a:pPr>
            <a:r>
              <a:t>M1: Asset Management</a:t>
            </a:r>
            <a:br/>
            <a:r>
              <a:t>(AVL Tree, BST)</a:t>
            </a:r>
          </a:p>
        </p:txBody>
      </p:sp>
      <p:sp>
        <p:nvSpPr>
          <p:cNvPr id="15" name="Rounded Rectangle 14"/>
          <p:cNvSpPr/>
          <p:nvPr/>
        </p:nvSpPr>
        <p:spPr>
          <a:xfrm>
            <a:off x="2900414" y="2801131"/>
            <a:ext cx="2103120" cy="594360"/>
          </a:xfrm>
          <a:prstGeom prst="roundRect">
            <a:avLst>
              <a:gd name="adj" fmla="val 10000"/>
            </a:avLst>
          </a:prstGeom>
          <a:solidFill>
            <a:srgbClr val="D4EDDA"/>
          </a:solidFill>
          <a:ln w="19050">
            <a:solidFill>
              <a:srgbClr val="2C6FB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defRPr sz="900" b="1">
                <a:solidFill>
                  <a:srgbClr val="1A1A2E"/>
                </a:solidFill>
                <a:latin typeface="Calibri"/>
              </a:defRPr>
            </a:pPr>
            <a:r>
              <a:t>M2: Traffic Analytics</a:t>
            </a:r>
            <a:br/>
            <a:r>
              <a:t>(Fenwick Tree)</a:t>
            </a:r>
          </a:p>
        </p:txBody>
      </p:sp>
      <p:sp>
        <p:nvSpPr>
          <p:cNvPr id="16" name="Rounded Rectangle 15"/>
          <p:cNvSpPr/>
          <p:nvPr/>
        </p:nvSpPr>
        <p:spPr>
          <a:xfrm>
            <a:off x="5279275" y="2767726"/>
            <a:ext cx="2103120" cy="594360"/>
          </a:xfrm>
          <a:prstGeom prst="roundRect">
            <a:avLst>
              <a:gd name="adj" fmla="val 10000"/>
            </a:avLst>
          </a:prstGeom>
          <a:solidFill>
            <a:srgbClr val="C8E6C9"/>
          </a:solidFill>
          <a:ln w="19050">
            <a:solidFill>
              <a:srgbClr val="2C6FB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defRPr sz="900" b="1">
                <a:solidFill>
                  <a:srgbClr val="1A1A2E"/>
                </a:solidFill>
                <a:latin typeface="Calibri"/>
              </a:defRPr>
            </a:pPr>
            <a:r>
              <a:t>M3: Graph Analysis</a:t>
            </a:r>
            <a:br/>
            <a:r>
              <a:t>(BFS, DFS)</a:t>
            </a:r>
          </a:p>
        </p:txBody>
      </p:sp>
      <p:sp>
        <p:nvSpPr>
          <p:cNvPr id="17" name="Rounded Rectangle 16"/>
          <p:cNvSpPr/>
          <p:nvPr/>
        </p:nvSpPr>
        <p:spPr>
          <a:xfrm>
            <a:off x="7680960" y="2801131"/>
            <a:ext cx="2103120" cy="594360"/>
          </a:xfrm>
          <a:prstGeom prst="roundRect">
            <a:avLst>
              <a:gd name="adj" fmla="val 10000"/>
            </a:avLst>
          </a:prstGeom>
          <a:solidFill>
            <a:srgbClr val="FDE8D0"/>
          </a:solidFill>
          <a:ln w="19050">
            <a:solidFill>
              <a:srgbClr val="2C6FB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defRPr sz="900" b="1">
                <a:solidFill>
                  <a:srgbClr val="1A1A2E"/>
                </a:solidFill>
                <a:latin typeface="Calibri"/>
              </a:defRPr>
            </a:pPr>
            <a:r>
              <a:t>M4: Shortest Path</a:t>
            </a:r>
            <a:br/>
            <a:r>
              <a:t>(Dijkstra, Floyd)</a:t>
            </a:r>
          </a:p>
        </p:txBody>
      </p:sp>
      <p:sp>
        <p:nvSpPr>
          <p:cNvPr id="18" name="Rounded Rectangle 17"/>
          <p:cNvSpPr/>
          <p:nvPr/>
        </p:nvSpPr>
        <p:spPr>
          <a:xfrm>
            <a:off x="10009910" y="2786295"/>
            <a:ext cx="2103120" cy="594360"/>
          </a:xfrm>
          <a:prstGeom prst="roundRect">
            <a:avLst>
              <a:gd name="adj" fmla="val 10000"/>
            </a:avLst>
          </a:prstGeom>
          <a:solidFill>
            <a:srgbClr val="FFD9CC"/>
          </a:solidFill>
          <a:ln w="19050">
            <a:solidFill>
              <a:srgbClr val="2C6FB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defRPr sz="900" b="1">
                <a:solidFill>
                  <a:srgbClr val="1A1A2E"/>
                </a:solidFill>
                <a:latin typeface="Calibri"/>
              </a:defRPr>
            </a:pPr>
            <a:r>
              <a:t>M6: Greedy &amp; DP</a:t>
            </a:r>
            <a:br/>
            <a:r>
              <a:t>(ActSel, FracKnap,</a:t>
            </a:r>
            <a:br/>
            <a:r>
              <a:t>01Knap, EditDist)</a:t>
            </a:r>
          </a:p>
        </p:txBody>
      </p:sp>
      <p:sp>
        <p:nvSpPr>
          <p:cNvPr id="19" name="Down Arrow 18"/>
          <p:cNvSpPr/>
          <p:nvPr/>
        </p:nvSpPr>
        <p:spPr>
          <a:xfrm>
            <a:off x="5975188" y="3494283"/>
            <a:ext cx="274320" cy="155084"/>
          </a:xfrm>
          <a:prstGeom prst="downArrow">
            <a:avLst/>
          </a:prstGeom>
          <a:solidFill>
            <a:srgbClr val="2C6F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305908" y="3719687"/>
            <a:ext cx="11612880" cy="411480"/>
          </a:xfrm>
          <a:prstGeom prst="roundRect">
            <a:avLst>
              <a:gd name="adj" fmla="val 10000"/>
            </a:avLst>
          </a:prstGeom>
          <a:solidFill>
            <a:srgbClr val="2C6FBB"/>
          </a:solidFill>
          <a:ln w="19050">
            <a:solidFill>
              <a:srgbClr val="2C6FB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defRPr sz="1100" b="1">
                <a:solidFill>
                  <a:srgbClr val="FFFFFF"/>
                </a:solidFill>
                <a:latin typeface="Calibri"/>
              </a:defRPr>
            </a:pPr>
            <a:r>
              <a:rPr dirty="0"/>
              <a:t>LAYER 4: DATA ACCESS (</a:t>
            </a:r>
            <a:r>
              <a:rPr dirty="0" err="1"/>
              <a:t>AssetDAO</a:t>
            </a:r>
            <a:r>
              <a:rPr dirty="0"/>
              <a:t>, </a:t>
            </a:r>
            <a:r>
              <a:rPr dirty="0" err="1"/>
              <a:t>TrafficDAO</a:t>
            </a:r>
            <a:r>
              <a:rPr dirty="0"/>
              <a:t> - JDBC Prepared Statements)</a:t>
            </a:r>
          </a:p>
        </p:txBody>
      </p:sp>
      <p:sp>
        <p:nvSpPr>
          <p:cNvPr id="21" name="Down Arrow 20"/>
          <p:cNvSpPr/>
          <p:nvPr/>
        </p:nvSpPr>
        <p:spPr>
          <a:xfrm>
            <a:off x="5995554" y="4198084"/>
            <a:ext cx="274320" cy="164592"/>
          </a:xfrm>
          <a:prstGeom prst="downArrow">
            <a:avLst/>
          </a:prstGeom>
          <a:solidFill>
            <a:srgbClr val="2C6F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253954" y="4456402"/>
            <a:ext cx="11612880" cy="411480"/>
          </a:xfrm>
          <a:prstGeom prst="roundRect">
            <a:avLst>
              <a:gd name="adj" fmla="val 10000"/>
            </a:avLst>
          </a:prstGeom>
          <a:solidFill>
            <a:srgbClr val="2C6FBB"/>
          </a:solidFill>
          <a:ln w="19050">
            <a:solidFill>
              <a:srgbClr val="2C6FB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defRPr sz="1100" b="1">
                <a:solidFill>
                  <a:srgbClr val="FFFFFF"/>
                </a:solidFill>
                <a:latin typeface="Calibri"/>
              </a:defRPr>
            </a:pPr>
            <a:r>
              <a:rPr dirty="0"/>
              <a:t>LAYER 5: PERSISTENCE (PostgreSQL - </a:t>
            </a:r>
            <a:r>
              <a:rPr dirty="0" err="1"/>
              <a:t>urbanai_db</a:t>
            </a:r>
            <a:r>
              <a:rPr dirty="0"/>
              <a:t> → </a:t>
            </a:r>
            <a:r>
              <a:rPr dirty="0" err="1"/>
              <a:t>UrbanAI_Assets</a:t>
            </a:r>
            <a:r>
              <a:rPr dirty="0"/>
              <a:t>, </a:t>
            </a:r>
            <a:r>
              <a:rPr dirty="0" err="1"/>
              <a:t>UrbanAI_Traffic</a:t>
            </a:r>
            <a:r>
              <a:rPr dirty="0"/>
              <a:t> Tables)</a:t>
            </a:r>
          </a:p>
        </p:txBody>
      </p:sp>
      <p:sp>
        <p:nvSpPr>
          <p:cNvPr id="23" name="Down Arrow 22"/>
          <p:cNvSpPr/>
          <p:nvPr/>
        </p:nvSpPr>
        <p:spPr>
          <a:xfrm>
            <a:off x="6036426" y="4972778"/>
            <a:ext cx="274320" cy="164592"/>
          </a:xfrm>
          <a:prstGeom prst="downArrow">
            <a:avLst/>
          </a:prstGeom>
          <a:solidFill>
            <a:srgbClr val="2C6F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24" name="Rounded Rectangle 23"/>
          <p:cNvSpPr/>
          <p:nvPr/>
        </p:nvSpPr>
        <p:spPr>
          <a:xfrm>
            <a:off x="2862072" y="5133317"/>
            <a:ext cx="2743200" cy="594360"/>
          </a:xfrm>
          <a:prstGeom prst="roundRect">
            <a:avLst>
              <a:gd name="adj" fmla="val 10000"/>
            </a:avLst>
          </a:prstGeom>
          <a:solidFill>
            <a:srgbClr val="E3F2FD"/>
          </a:solidFill>
          <a:ln w="19050">
            <a:solidFill>
              <a:srgbClr val="2C6FB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defRPr sz="1000" b="1">
                <a:solidFill>
                  <a:srgbClr val="1A1A2E"/>
                </a:solidFill>
                <a:latin typeface="Calibri"/>
              </a:defRPr>
            </a:pPr>
            <a:r>
              <a:t>Asset.java</a:t>
            </a:r>
            <a:br/>
            <a:r>
              <a:t>(ID, Name, Loc, Type)</a:t>
            </a:r>
          </a:p>
        </p:txBody>
      </p:sp>
      <p:sp>
        <p:nvSpPr>
          <p:cNvPr id="25" name="Rounded Rectangle 24"/>
          <p:cNvSpPr/>
          <p:nvPr/>
        </p:nvSpPr>
        <p:spPr>
          <a:xfrm>
            <a:off x="6611112" y="5137370"/>
            <a:ext cx="2743200" cy="594360"/>
          </a:xfrm>
          <a:prstGeom prst="roundRect">
            <a:avLst>
              <a:gd name="adj" fmla="val 10000"/>
            </a:avLst>
          </a:prstGeom>
          <a:solidFill>
            <a:srgbClr val="E0F2F1"/>
          </a:solidFill>
          <a:ln w="19050">
            <a:solidFill>
              <a:srgbClr val="2C6FB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defRPr sz="1000" b="1">
                <a:solidFill>
                  <a:srgbClr val="1A1A2E"/>
                </a:solidFill>
                <a:latin typeface="Calibri"/>
              </a:defRPr>
            </a:pPr>
            <a:r>
              <a:t>TrafficRecord.java</a:t>
            </a:r>
            <a:br/>
            <a:r>
              <a:t>(RoadID, VehicleCount)</a:t>
            </a:r>
          </a:p>
        </p:txBody>
      </p:sp>
      <p:sp>
        <p:nvSpPr>
          <p:cNvPr id="26" name="Down Arrow 25"/>
          <p:cNvSpPr/>
          <p:nvPr/>
        </p:nvSpPr>
        <p:spPr>
          <a:xfrm>
            <a:off x="6056515" y="5805401"/>
            <a:ext cx="274320" cy="164592"/>
          </a:xfrm>
          <a:prstGeom prst="downArrow">
            <a:avLst/>
          </a:prstGeom>
          <a:solidFill>
            <a:srgbClr val="2C6F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p:cNvSpPr/>
          <p:nvPr/>
        </p:nvSpPr>
        <p:spPr>
          <a:xfrm>
            <a:off x="326274" y="6079721"/>
            <a:ext cx="11612880" cy="411480"/>
          </a:xfrm>
          <a:prstGeom prst="roundRect">
            <a:avLst>
              <a:gd name="adj" fmla="val 10000"/>
            </a:avLst>
          </a:prstGeom>
          <a:solidFill>
            <a:srgbClr val="2C6FBB"/>
          </a:solidFill>
          <a:ln w="19050">
            <a:solidFill>
              <a:srgbClr val="2C6FB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defRPr sz="1100" b="1">
                <a:solidFill>
                  <a:srgbClr val="FFFFFF"/>
                </a:solidFill>
                <a:latin typeface="Calibri"/>
              </a:defRPr>
            </a:pPr>
            <a:r>
              <a:t>LAYER 7: OUTPUT (Console Display - Route Maps, Traffic Analytics, Maintenance Schedule, Priority Rankings)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0F4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2C6F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74320"/>
            <a:ext cx="10972800" cy="553998"/>
          </a:xfrm>
          <a:prstGeom prst="rect">
            <a:avLst/>
          </a:prstGeom>
          <a:noFill/>
        </p:spPr>
        <p:txBody>
          <a:bodyPr wrap="square">
            <a:spAutoFit/>
          </a:bodyPr>
          <a:lstStyle/>
          <a:p>
            <a:pPr algn="l">
              <a:defRPr sz="3000" b="1">
                <a:solidFill>
                  <a:srgbClr val="2C6FBB"/>
                </a:solidFill>
                <a:latin typeface="Calibri"/>
              </a:defRPr>
            </a:pPr>
            <a:r>
              <a:rPr dirty="0"/>
              <a:t>Module 1: Trees &amp; Balanced Search Structures </a:t>
            </a:r>
          </a:p>
        </p:txBody>
      </p:sp>
      <p:sp>
        <p:nvSpPr>
          <p:cNvPr id="4" name="TextBox 3"/>
          <p:cNvSpPr txBox="1"/>
          <p:nvPr/>
        </p:nvSpPr>
        <p:spPr>
          <a:xfrm>
            <a:off x="548640" y="777240"/>
            <a:ext cx="10972800" cy="365760"/>
          </a:xfrm>
          <a:prstGeom prst="rect">
            <a:avLst/>
          </a:prstGeom>
          <a:noFill/>
        </p:spPr>
        <p:txBody>
          <a:bodyPr wrap="square">
            <a:spAutoFit/>
          </a:bodyPr>
          <a:lstStyle/>
          <a:p>
            <a:pPr algn="l">
              <a:defRPr sz="1600" b="0">
                <a:solidFill>
                  <a:srgbClr val="55556E"/>
                </a:solidFill>
                <a:latin typeface="Calibri"/>
              </a:defRPr>
            </a:pPr>
            <a:r>
              <a:t>Infrastructure Asset Management using AVL Tree</a:t>
            </a:r>
          </a:p>
        </p:txBody>
      </p:sp>
      <p:sp>
        <p:nvSpPr>
          <p:cNvPr id="5" name="Rectangle 4"/>
          <p:cNvSpPr/>
          <p:nvPr/>
        </p:nvSpPr>
        <p:spPr>
          <a:xfrm>
            <a:off x="548640" y="1097280"/>
            <a:ext cx="10972800" cy="27432"/>
          </a:xfrm>
          <a:prstGeom prst="rect">
            <a:avLst/>
          </a:prstGeom>
          <a:solidFill>
            <a:srgbClr val="2C6F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365760" y="1143000"/>
            <a:ext cx="4572000" cy="1737360"/>
          </a:xfrm>
          <a:prstGeom prst="roundRect">
            <a:avLst>
              <a:gd name="adj" fmla="val 10000"/>
            </a:avLst>
          </a:prstGeom>
          <a:solidFill>
            <a:srgbClr val="E3F2FD"/>
          </a:solidFill>
          <a:ln w="19050">
            <a:solidFill>
              <a:srgbClr val="2C6FB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8640" y="1170432"/>
            <a:ext cx="4206240" cy="274320"/>
          </a:xfrm>
          <a:prstGeom prst="rect">
            <a:avLst/>
          </a:prstGeom>
          <a:noFill/>
        </p:spPr>
        <p:txBody>
          <a:bodyPr wrap="square">
            <a:spAutoFit/>
          </a:bodyPr>
          <a:lstStyle/>
          <a:p>
            <a:pPr algn="l">
              <a:defRPr sz="1300" b="1">
                <a:solidFill>
                  <a:srgbClr val="2C6FBB"/>
                </a:solidFill>
                <a:latin typeface="Calibri"/>
              </a:defRPr>
            </a:pPr>
            <a:r>
              <a:t>📋 DSA Techniques Used</a:t>
            </a:r>
          </a:p>
        </p:txBody>
      </p:sp>
      <p:sp>
        <p:nvSpPr>
          <p:cNvPr id="8" name="TextBox 7"/>
          <p:cNvSpPr txBox="1"/>
          <p:nvPr/>
        </p:nvSpPr>
        <p:spPr>
          <a:xfrm>
            <a:off x="548640" y="1444752"/>
            <a:ext cx="4206240" cy="1371600"/>
          </a:xfrm>
          <a:prstGeom prst="rect">
            <a:avLst/>
          </a:prstGeom>
          <a:noFill/>
        </p:spPr>
        <p:txBody>
          <a:bodyPr wrap="square">
            <a:spAutoFit/>
          </a:bodyPr>
          <a:lstStyle/>
          <a:p>
            <a:pPr algn="l">
              <a:spcAft>
                <a:spcPts val="600"/>
              </a:spcAft>
              <a:defRPr sz="1000" b="0">
                <a:solidFill>
                  <a:srgbClr val="1A1A2E"/>
                </a:solidFill>
                <a:latin typeface="Calibri"/>
              </a:defRPr>
            </a:pPr>
            <a:r>
              <a:t>1. BST — Index assets by AssetID for O(log n) search</a:t>
            </a:r>
          </a:p>
          <a:p>
            <a:pPr algn="l">
              <a:spcAft>
                <a:spcPts val="600"/>
              </a:spcAft>
              <a:defRPr sz="1000" b="0">
                <a:solidFill>
                  <a:srgbClr val="1A1A2E"/>
                </a:solidFill>
                <a:latin typeface="Calibri"/>
              </a:defRPr>
            </a:pPr>
            <a:r>
              <a:t>2. AVL Tree — Self-balancing BST (balance factor: -1,0,1)</a:t>
            </a:r>
          </a:p>
          <a:p>
            <a:pPr algn="l">
              <a:spcAft>
                <a:spcPts val="600"/>
              </a:spcAft>
              <a:defRPr sz="1000" b="0">
                <a:solidFill>
                  <a:srgbClr val="1A1A2E"/>
                </a:solidFill>
                <a:latin typeface="Calibri"/>
              </a:defRPr>
            </a:pPr>
            <a:r>
              <a:t>3. In-order Traversal — Sorted asset reports</a:t>
            </a:r>
          </a:p>
          <a:p>
            <a:pPr algn="l">
              <a:spcAft>
                <a:spcPts val="600"/>
              </a:spcAft>
              <a:defRPr sz="1000" b="0">
                <a:solidFill>
                  <a:srgbClr val="1A1A2E"/>
                </a:solidFill>
                <a:latin typeface="Calibri"/>
              </a:defRPr>
            </a:pPr>
            <a:r>
              <a:t>4. Rotations (LL/RR/LR/RL) — Auto-rebalancing</a:t>
            </a:r>
          </a:p>
        </p:txBody>
      </p:sp>
      <p:sp>
        <p:nvSpPr>
          <p:cNvPr id="9" name="Rounded Rectangle 8"/>
          <p:cNvSpPr/>
          <p:nvPr/>
        </p:nvSpPr>
        <p:spPr>
          <a:xfrm>
            <a:off x="5212080" y="1143000"/>
            <a:ext cx="6583680" cy="1737360"/>
          </a:xfrm>
          <a:prstGeom prst="roundRect">
            <a:avLst>
              <a:gd name="adj" fmla="val 10000"/>
            </a:avLst>
          </a:prstGeom>
          <a:solidFill>
            <a:srgbClr val="FDF2E3"/>
          </a:solidFill>
          <a:ln w="19050">
            <a:solidFill>
              <a:srgbClr val="E67E2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394960" y="1170432"/>
            <a:ext cx="6217920" cy="274320"/>
          </a:xfrm>
          <a:prstGeom prst="rect">
            <a:avLst/>
          </a:prstGeom>
          <a:noFill/>
        </p:spPr>
        <p:txBody>
          <a:bodyPr wrap="square">
            <a:spAutoFit/>
          </a:bodyPr>
          <a:lstStyle/>
          <a:p>
            <a:pPr algn="l">
              <a:defRPr sz="1300" b="1">
                <a:solidFill>
                  <a:srgbClr val="E67E22"/>
                </a:solidFill>
                <a:latin typeface="Calibri"/>
              </a:defRPr>
            </a:pPr>
            <a:r>
              <a:t>❓ Why These Data Structures?</a:t>
            </a:r>
          </a:p>
        </p:txBody>
      </p:sp>
      <p:sp>
        <p:nvSpPr>
          <p:cNvPr id="11" name="TextBox 10"/>
          <p:cNvSpPr txBox="1"/>
          <p:nvPr/>
        </p:nvSpPr>
        <p:spPr>
          <a:xfrm>
            <a:off x="5394960" y="1444752"/>
            <a:ext cx="6217920" cy="1371600"/>
          </a:xfrm>
          <a:prstGeom prst="rect">
            <a:avLst/>
          </a:prstGeom>
          <a:noFill/>
        </p:spPr>
        <p:txBody>
          <a:bodyPr wrap="square">
            <a:spAutoFit/>
          </a:bodyPr>
          <a:lstStyle/>
          <a:p>
            <a:pPr algn="l">
              <a:spcAft>
                <a:spcPts val="600"/>
              </a:spcAft>
              <a:defRPr sz="1000" b="0">
                <a:solidFill>
                  <a:srgbClr val="1A1A2E"/>
                </a:solidFill>
                <a:latin typeface="Calibri"/>
              </a:defRPr>
            </a:pPr>
            <a:r>
              <a:t>• Asset IDs are numeric → ideal for BST indexing</a:t>
            </a:r>
          </a:p>
          <a:p>
            <a:pPr algn="l">
              <a:spcAft>
                <a:spcPts val="600"/>
              </a:spcAft>
              <a:defRPr sz="1000" b="0">
                <a:solidFill>
                  <a:srgbClr val="1A1A2E"/>
                </a:solidFill>
                <a:latin typeface="Calibri"/>
              </a:defRPr>
            </a:pPr>
            <a:r>
              <a:t>• AVL prevents O(n) degradation → guaranteed O(log n)</a:t>
            </a:r>
          </a:p>
          <a:p>
            <a:pPr algn="l">
              <a:spcAft>
                <a:spcPts val="600"/>
              </a:spcAft>
              <a:defRPr sz="1000" b="0">
                <a:solidFill>
                  <a:srgbClr val="1A1A2E"/>
                </a:solidFill>
                <a:latin typeface="Calibri"/>
              </a:defRPr>
            </a:pPr>
            <a:r>
              <a:t>• In-order traversal → sorted output with zero extra cost</a:t>
            </a:r>
          </a:p>
          <a:p>
            <a:pPr algn="l">
              <a:spcAft>
                <a:spcPts val="600"/>
              </a:spcAft>
              <a:defRPr sz="1000" b="0">
                <a:solidFill>
                  <a:srgbClr val="1A1A2E"/>
                </a:solidFill>
                <a:latin typeface="Calibri"/>
              </a:defRPr>
            </a:pPr>
            <a:r>
              <a:t>• Real-time lookups for emergency asset dispatch</a:t>
            </a:r>
          </a:p>
        </p:txBody>
      </p:sp>
      <p:sp>
        <p:nvSpPr>
          <p:cNvPr id="12" name="TextBox 11"/>
          <p:cNvSpPr txBox="1"/>
          <p:nvPr/>
        </p:nvSpPr>
        <p:spPr>
          <a:xfrm>
            <a:off x="324197" y="2935224"/>
            <a:ext cx="3657600" cy="228600"/>
          </a:xfrm>
          <a:prstGeom prst="rect">
            <a:avLst/>
          </a:prstGeom>
          <a:noFill/>
        </p:spPr>
        <p:txBody>
          <a:bodyPr wrap="square">
            <a:spAutoFit/>
          </a:bodyPr>
          <a:lstStyle/>
          <a:p>
            <a:pPr algn="l">
              <a:defRPr sz="1200" b="1">
                <a:solidFill>
                  <a:srgbClr val="2C6FBB"/>
                </a:solidFill>
                <a:latin typeface="Calibri"/>
              </a:defRPr>
            </a:pPr>
            <a:r>
              <a:t>📊 Algorithm Flow Diagram — AVL Tree Insertion &amp; Search</a:t>
            </a:r>
          </a:p>
        </p:txBody>
      </p:sp>
      <p:sp>
        <p:nvSpPr>
          <p:cNvPr id="13" name="Rounded Rectangle 12"/>
          <p:cNvSpPr/>
          <p:nvPr/>
        </p:nvSpPr>
        <p:spPr>
          <a:xfrm>
            <a:off x="3291840" y="3291840"/>
            <a:ext cx="2560320" cy="320040"/>
          </a:xfrm>
          <a:prstGeom prst="roundRect">
            <a:avLst>
              <a:gd name="adj" fmla="val 10000"/>
            </a:avLst>
          </a:prstGeom>
          <a:solidFill>
            <a:srgbClr val="DDE8F5"/>
          </a:solidFill>
          <a:ln w="19050">
            <a:solidFill>
              <a:srgbClr val="2C6FB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defRPr sz="900" b="0">
                <a:solidFill>
                  <a:srgbClr val="1A1A2E"/>
                </a:solidFill>
                <a:latin typeface="Calibri"/>
              </a:defRPr>
            </a:pPr>
            <a:r>
              <a:t>STEP 1: User enters Asset details</a:t>
            </a:r>
            <a:br/>
            <a:r>
              <a:t>(AssetID, Name, Location, Type)</a:t>
            </a:r>
          </a:p>
        </p:txBody>
      </p:sp>
      <p:sp>
        <p:nvSpPr>
          <p:cNvPr id="14" name="Down Arrow 13"/>
          <p:cNvSpPr/>
          <p:nvPr/>
        </p:nvSpPr>
        <p:spPr>
          <a:xfrm>
            <a:off x="4480560" y="3630168"/>
            <a:ext cx="182880" cy="137160"/>
          </a:xfrm>
          <a:prstGeom prst="downArrow">
            <a:avLst/>
          </a:prstGeom>
          <a:solidFill>
            <a:srgbClr val="2C6F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3291840" y="3794760"/>
            <a:ext cx="2560320" cy="320040"/>
          </a:xfrm>
          <a:prstGeom prst="roundRect">
            <a:avLst>
              <a:gd name="adj" fmla="val 10000"/>
            </a:avLst>
          </a:prstGeom>
          <a:solidFill>
            <a:srgbClr val="DDE8F5"/>
          </a:solidFill>
          <a:ln w="19050">
            <a:solidFill>
              <a:srgbClr val="2C6FB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defRPr sz="900" b="0">
                <a:solidFill>
                  <a:srgbClr val="1A1A2E"/>
                </a:solidFill>
                <a:latin typeface="Calibri"/>
              </a:defRPr>
            </a:pPr>
            <a:r>
              <a:t>STEP 2: Asset object created</a:t>
            </a:r>
            <a:br/>
            <a:r>
              <a:t>new Asset(id, name, loc, type)</a:t>
            </a:r>
          </a:p>
        </p:txBody>
      </p:sp>
      <p:sp>
        <p:nvSpPr>
          <p:cNvPr id="16" name="Down Arrow 15"/>
          <p:cNvSpPr/>
          <p:nvPr/>
        </p:nvSpPr>
        <p:spPr>
          <a:xfrm>
            <a:off x="4480560" y="4133088"/>
            <a:ext cx="182880" cy="137160"/>
          </a:xfrm>
          <a:prstGeom prst="downArrow">
            <a:avLst/>
          </a:prstGeom>
          <a:solidFill>
            <a:srgbClr val="2C6F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3291840" y="4297680"/>
            <a:ext cx="2560320" cy="320040"/>
          </a:xfrm>
          <a:prstGeom prst="roundRect">
            <a:avLst>
              <a:gd name="adj" fmla="val 10000"/>
            </a:avLst>
          </a:prstGeom>
          <a:solidFill>
            <a:srgbClr val="DDE8F5"/>
          </a:solidFill>
          <a:ln w="19050">
            <a:solidFill>
              <a:srgbClr val="2C6FB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defRPr sz="900" b="0">
                <a:solidFill>
                  <a:srgbClr val="1A1A2E"/>
                </a:solidFill>
                <a:latin typeface="Calibri"/>
              </a:defRPr>
            </a:pPr>
            <a:r>
              <a:t>STEP 3: avlTree.insert(asset) called</a:t>
            </a:r>
            <a:br/>
            <a:r>
              <a:t>Compares assetId with current node</a:t>
            </a:r>
          </a:p>
        </p:txBody>
      </p:sp>
      <p:sp>
        <p:nvSpPr>
          <p:cNvPr id="18" name="Down Arrow 17"/>
          <p:cNvSpPr/>
          <p:nvPr/>
        </p:nvSpPr>
        <p:spPr>
          <a:xfrm>
            <a:off x="4480560" y="4636008"/>
            <a:ext cx="182880" cy="137160"/>
          </a:xfrm>
          <a:prstGeom prst="downArrow">
            <a:avLst/>
          </a:prstGeom>
          <a:solidFill>
            <a:srgbClr val="2C6F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Diamond 18"/>
          <p:cNvSpPr/>
          <p:nvPr/>
        </p:nvSpPr>
        <p:spPr>
          <a:xfrm>
            <a:off x="3840480" y="4800600"/>
            <a:ext cx="1463040" cy="411480"/>
          </a:xfrm>
          <a:prstGeom prst="diamond">
            <a:avLst/>
          </a:prstGeom>
          <a:solidFill>
            <a:srgbClr val="FFF3CD"/>
          </a:solidFill>
          <a:ln w="19050">
            <a:solidFill>
              <a:srgbClr val="E67E22"/>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800" b="1">
                <a:solidFill>
                  <a:srgbClr val="1A1A2E"/>
                </a:solidFill>
                <a:latin typeface="Calibri"/>
              </a:defRPr>
            </a:pPr>
            <a:r>
              <a:t>Balance</a:t>
            </a:r>
            <a:br/>
            <a:r>
              <a:t>|BF| &gt; 1?</a:t>
            </a:r>
          </a:p>
        </p:txBody>
      </p:sp>
      <p:sp>
        <p:nvSpPr>
          <p:cNvPr id="20" name="Right Arrow 19"/>
          <p:cNvSpPr/>
          <p:nvPr/>
        </p:nvSpPr>
        <p:spPr>
          <a:xfrm>
            <a:off x="5349240" y="4910328"/>
            <a:ext cx="228600" cy="137160"/>
          </a:xfrm>
          <a:prstGeom prst="rightArrow">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5669280" y="4818888"/>
            <a:ext cx="2286000" cy="320040"/>
          </a:xfrm>
          <a:prstGeom prst="roundRect">
            <a:avLst>
              <a:gd name="adj" fmla="val 10000"/>
            </a:avLst>
          </a:prstGeom>
          <a:solidFill>
            <a:srgbClr val="FFCDD2"/>
          </a:solidFill>
          <a:ln w="19050">
            <a:solidFill>
              <a:srgbClr val="2C6FB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defRPr sz="900" b="1">
                <a:solidFill>
                  <a:srgbClr val="1A1A2E"/>
                </a:solidFill>
                <a:latin typeface="Calibri"/>
              </a:defRPr>
            </a:pPr>
            <a:r>
              <a:t>YES → Rotations</a:t>
            </a:r>
            <a:br/>
            <a:r>
              <a:t>(LL / RR / LR / RL)</a:t>
            </a:r>
          </a:p>
        </p:txBody>
      </p:sp>
      <p:sp>
        <p:nvSpPr>
          <p:cNvPr id="22" name="Down Arrow 21"/>
          <p:cNvSpPr/>
          <p:nvPr/>
        </p:nvSpPr>
        <p:spPr>
          <a:xfrm>
            <a:off x="4480560" y="5212080"/>
            <a:ext cx="182880" cy="109728"/>
          </a:xfrm>
          <a:prstGeom prst="downArrow">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3291840" y="5349240"/>
            <a:ext cx="2560320" cy="320040"/>
          </a:xfrm>
          <a:prstGeom prst="roundRect">
            <a:avLst>
              <a:gd name="adj" fmla="val 10000"/>
            </a:avLst>
          </a:prstGeom>
          <a:solidFill>
            <a:srgbClr val="C8E6C9"/>
          </a:solidFill>
          <a:ln w="19050">
            <a:solidFill>
              <a:srgbClr val="2C6FB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defRPr sz="900" b="1">
                <a:solidFill>
                  <a:srgbClr val="1A1A2E"/>
                </a:solidFill>
                <a:latin typeface="Calibri"/>
              </a:defRPr>
            </a:pPr>
            <a:r>
              <a:t>NO → Tree balanced → Node height updated</a:t>
            </a:r>
          </a:p>
        </p:txBody>
      </p:sp>
      <p:sp>
        <p:nvSpPr>
          <p:cNvPr id="24" name="Rounded Rectangle 23"/>
          <p:cNvSpPr/>
          <p:nvPr/>
        </p:nvSpPr>
        <p:spPr>
          <a:xfrm>
            <a:off x="3250276" y="5902452"/>
            <a:ext cx="4572000" cy="320040"/>
          </a:xfrm>
          <a:prstGeom prst="roundRect">
            <a:avLst>
              <a:gd name="adj" fmla="val 10000"/>
            </a:avLst>
          </a:prstGeom>
          <a:solidFill>
            <a:srgbClr val="D5DBDB"/>
          </a:solidFill>
          <a:ln w="19050">
            <a:solidFill>
              <a:srgbClr val="2C6FB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defRPr sz="900" b="1">
                <a:solidFill>
                  <a:srgbClr val="1A1A2E"/>
                </a:solidFill>
                <a:latin typeface="Calibri"/>
              </a:defRPr>
            </a:pPr>
            <a:r>
              <a:t>AssetDAO → PostgreSQL INSERT | Display Assets (In-order Traversal)</a:t>
            </a:r>
          </a:p>
        </p:txBody>
      </p:sp>
      <p:sp>
        <p:nvSpPr>
          <p:cNvPr id="25" name="TextBox 24"/>
          <p:cNvSpPr txBox="1"/>
          <p:nvPr/>
        </p:nvSpPr>
        <p:spPr>
          <a:xfrm>
            <a:off x="8821881" y="3017520"/>
            <a:ext cx="2286000" cy="228600"/>
          </a:xfrm>
          <a:prstGeom prst="rect">
            <a:avLst/>
          </a:prstGeom>
          <a:noFill/>
        </p:spPr>
        <p:txBody>
          <a:bodyPr wrap="square">
            <a:spAutoFit/>
          </a:bodyPr>
          <a:lstStyle/>
          <a:p>
            <a:pPr algn="ctr">
              <a:defRPr sz="1000" b="1">
                <a:solidFill>
                  <a:srgbClr val="1AAB8E"/>
                </a:solidFill>
                <a:latin typeface="Calibri"/>
              </a:defRPr>
            </a:pPr>
            <a:r>
              <a:rPr dirty="0"/>
              <a:t>🔍 Search Path</a:t>
            </a:r>
          </a:p>
        </p:txBody>
      </p:sp>
      <p:sp>
        <p:nvSpPr>
          <p:cNvPr id="26" name="Rounded Rectangle 25"/>
          <p:cNvSpPr/>
          <p:nvPr/>
        </p:nvSpPr>
        <p:spPr>
          <a:xfrm>
            <a:off x="8802138" y="3319272"/>
            <a:ext cx="2286000" cy="292608"/>
          </a:xfrm>
          <a:prstGeom prst="roundRect">
            <a:avLst>
              <a:gd name="adj" fmla="val 10000"/>
            </a:avLst>
          </a:prstGeom>
          <a:solidFill>
            <a:srgbClr val="E0F2F1"/>
          </a:solidFill>
          <a:ln w="19050">
            <a:solidFill>
              <a:srgbClr val="2C6FB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defRPr sz="800" b="0">
                <a:solidFill>
                  <a:srgbClr val="1A1A2E"/>
                </a:solidFill>
                <a:latin typeface="Calibri"/>
              </a:defRPr>
            </a:pPr>
            <a:r>
              <a:t>searchAsset(id)</a:t>
            </a:r>
            <a:br/>
            <a:r>
              <a:t>BST while-loop compare node</a:t>
            </a:r>
          </a:p>
        </p:txBody>
      </p:sp>
      <p:sp>
        <p:nvSpPr>
          <p:cNvPr id="27" name="Down Arrow 26"/>
          <p:cNvSpPr/>
          <p:nvPr/>
        </p:nvSpPr>
        <p:spPr>
          <a:xfrm>
            <a:off x="9964881" y="3692929"/>
            <a:ext cx="146304" cy="109728"/>
          </a:xfrm>
          <a:prstGeom prst="downArrow">
            <a:avLst/>
          </a:prstGeom>
          <a:solidFill>
            <a:srgbClr val="1AAB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8802138" y="3877056"/>
            <a:ext cx="2286000" cy="292608"/>
          </a:xfrm>
          <a:prstGeom prst="roundRect">
            <a:avLst>
              <a:gd name="adj" fmla="val 10000"/>
            </a:avLst>
          </a:prstGeom>
          <a:solidFill>
            <a:srgbClr val="E0F2F1"/>
          </a:solidFill>
          <a:ln w="19050">
            <a:solidFill>
              <a:srgbClr val="2C6FB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defRPr sz="800" b="0">
                <a:solidFill>
                  <a:srgbClr val="1A1A2E"/>
                </a:solidFill>
                <a:latin typeface="Calibri"/>
              </a:defRPr>
            </a:pPr>
            <a:r>
              <a:t>Found in AVL Tree?</a:t>
            </a:r>
            <a:br/>
            <a:r>
              <a:t>Return Asset object</a:t>
            </a:r>
          </a:p>
        </p:txBody>
      </p:sp>
      <p:sp>
        <p:nvSpPr>
          <p:cNvPr id="29" name="Down Arrow 28"/>
          <p:cNvSpPr/>
          <p:nvPr/>
        </p:nvSpPr>
        <p:spPr>
          <a:xfrm>
            <a:off x="9964881" y="4249258"/>
            <a:ext cx="146304" cy="109728"/>
          </a:xfrm>
          <a:prstGeom prst="downArrow">
            <a:avLst/>
          </a:prstGeom>
          <a:solidFill>
            <a:srgbClr val="1AAB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ounded Rectangle 29"/>
          <p:cNvSpPr/>
          <p:nvPr/>
        </p:nvSpPr>
        <p:spPr>
          <a:xfrm>
            <a:off x="8802138" y="4411980"/>
            <a:ext cx="2286000" cy="292608"/>
          </a:xfrm>
          <a:prstGeom prst="roundRect">
            <a:avLst>
              <a:gd name="adj" fmla="val 10000"/>
            </a:avLst>
          </a:prstGeom>
          <a:solidFill>
            <a:srgbClr val="E0F2F1"/>
          </a:solidFill>
          <a:ln w="19050">
            <a:solidFill>
              <a:srgbClr val="2C6FB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defRPr sz="800" b="0">
                <a:solidFill>
                  <a:srgbClr val="1A1A2E"/>
                </a:solidFill>
                <a:latin typeface="Calibri"/>
              </a:defRPr>
            </a:pPr>
            <a:r>
              <a:t>Not found?</a:t>
            </a:r>
            <a:br/>
            <a:r>
              <a:t>Fallback → PostgreSQL search</a:t>
            </a:r>
          </a:p>
        </p:txBody>
      </p:sp>
      <p:sp>
        <p:nvSpPr>
          <p:cNvPr id="31" name="Down Arrow 30"/>
          <p:cNvSpPr/>
          <p:nvPr/>
        </p:nvSpPr>
        <p:spPr>
          <a:xfrm>
            <a:off x="9976311" y="4764024"/>
            <a:ext cx="146304" cy="109728"/>
          </a:xfrm>
          <a:prstGeom prst="downArrow">
            <a:avLst/>
          </a:prstGeom>
          <a:solidFill>
            <a:srgbClr val="1AAB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ounded Rectangle 31"/>
          <p:cNvSpPr/>
          <p:nvPr/>
        </p:nvSpPr>
        <p:spPr>
          <a:xfrm>
            <a:off x="8821881" y="4946904"/>
            <a:ext cx="2286000" cy="292608"/>
          </a:xfrm>
          <a:prstGeom prst="roundRect">
            <a:avLst>
              <a:gd name="adj" fmla="val 10000"/>
            </a:avLst>
          </a:prstGeom>
          <a:solidFill>
            <a:srgbClr val="E0F2F1"/>
          </a:solidFill>
          <a:ln w="19050">
            <a:solidFill>
              <a:srgbClr val="2C6FB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defRPr sz="800" b="0">
                <a:solidFill>
                  <a:srgbClr val="1A1A2E"/>
                </a:solidFill>
                <a:latin typeface="Calibri"/>
              </a:defRPr>
            </a:pPr>
            <a:r>
              <a:t>Display: Asset Details</a:t>
            </a:r>
            <a:br/>
            <a:r>
              <a:t>OR 'Asset Not Found'</a:t>
            </a:r>
          </a:p>
        </p:txBody>
      </p:sp>
      <p:sp>
        <p:nvSpPr>
          <p:cNvPr id="37" name="TextBox 36"/>
          <p:cNvSpPr txBox="1"/>
          <p:nvPr/>
        </p:nvSpPr>
        <p:spPr>
          <a:xfrm>
            <a:off x="457200" y="6400800"/>
            <a:ext cx="10972800" cy="365760"/>
          </a:xfrm>
          <a:prstGeom prst="rect">
            <a:avLst/>
          </a:prstGeom>
          <a:noFill/>
        </p:spPr>
        <p:txBody>
          <a:bodyPr wrap="square">
            <a:spAutoFit/>
          </a:bodyPr>
          <a:lstStyle/>
          <a:p>
            <a:pPr algn="ctr">
              <a:defRPr sz="900" b="0">
                <a:solidFill>
                  <a:srgbClr val="55556E"/>
                </a:solidFill>
                <a:latin typeface="Calibri"/>
              </a:defRPr>
            </a:pPr>
            <a:r>
              <a:t>UrbanAI | Smart City Infrastructure Optimization Platform</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0F4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2C6F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74320"/>
            <a:ext cx="10972800" cy="553998"/>
          </a:xfrm>
          <a:prstGeom prst="rect">
            <a:avLst/>
          </a:prstGeom>
          <a:noFill/>
        </p:spPr>
        <p:txBody>
          <a:bodyPr wrap="square">
            <a:spAutoFit/>
          </a:bodyPr>
          <a:lstStyle/>
          <a:p>
            <a:pPr algn="l">
              <a:defRPr sz="3000" b="1">
                <a:solidFill>
                  <a:srgbClr val="2C6FBB"/>
                </a:solidFill>
                <a:latin typeface="Calibri"/>
              </a:defRPr>
            </a:pPr>
            <a:r>
              <a:rPr dirty="0"/>
              <a:t>Module 2: Range Query Structures </a:t>
            </a:r>
          </a:p>
        </p:txBody>
      </p:sp>
      <p:sp>
        <p:nvSpPr>
          <p:cNvPr id="4" name="TextBox 3"/>
          <p:cNvSpPr txBox="1"/>
          <p:nvPr/>
        </p:nvSpPr>
        <p:spPr>
          <a:xfrm>
            <a:off x="548640" y="777240"/>
            <a:ext cx="10972800" cy="365760"/>
          </a:xfrm>
          <a:prstGeom prst="rect">
            <a:avLst/>
          </a:prstGeom>
          <a:noFill/>
        </p:spPr>
        <p:txBody>
          <a:bodyPr wrap="square">
            <a:spAutoFit/>
          </a:bodyPr>
          <a:lstStyle/>
          <a:p>
            <a:pPr algn="l">
              <a:defRPr sz="1600" b="0">
                <a:solidFill>
                  <a:srgbClr val="55556E"/>
                </a:solidFill>
                <a:latin typeface="Calibri"/>
              </a:defRPr>
            </a:pPr>
            <a:r>
              <a:t>Traffic Density Analytics using Fenwick Tree</a:t>
            </a:r>
          </a:p>
        </p:txBody>
      </p:sp>
      <p:sp>
        <p:nvSpPr>
          <p:cNvPr id="5" name="Rectangle 4"/>
          <p:cNvSpPr/>
          <p:nvPr/>
        </p:nvSpPr>
        <p:spPr>
          <a:xfrm>
            <a:off x="548640" y="1097280"/>
            <a:ext cx="10972800" cy="27432"/>
          </a:xfrm>
          <a:prstGeom prst="rect">
            <a:avLst/>
          </a:prstGeom>
          <a:solidFill>
            <a:srgbClr val="2C6F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365760" y="1143000"/>
            <a:ext cx="4572000" cy="1371600"/>
          </a:xfrm>
          <a:prstGeom prst="roundRect">
            <a:avLst>
              <a:gd name="adj" fmla="val 10000"/>
            </a:avLst>
          </a:prstGeom>
          <a:solidFill>
            <a:srgbClr val="E3F2FD"/>
          </a:solidFill>
          <a:ln w="19050">
            <a:solidFill>
              <a:srgbClr val="2C6FB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8640" y="1170432"/>
            <a:ext cx="4206240" cy="274320"/>
          </a:xfrm>
          <a:prstGeom prst="rect">
            <a:avLst/>
          </a:prstGeom>
          <a:noFill/>
        </p:spPr>
        <p:txBody>
          <a:bodyPr wrap="square">
            <a:spAutoFit/>
          </a:bodyPr>
          <a:lstStyle/>
          <a:p>
            <a:pPr algn="ctr">
              <a:defRPr sz="1200" b="1">
                <a:solidFill>
                  <a:srgbClr val="2C6FBB"/>
                </a:solidFill>
                <a:latin typeface="Calibri"/>
              </a:defRPr>
            </a:pPr>
            <a:r>
              <a:t>📋 DSA Techniques Used</a:t>
            </a:r>
          </a:p>
        </p:txBody>
      </p:sp>
      <p:sp>
        <p:nvSpPr>
          <p:cNvPr id="8" name="TextBox 7"/>
          <p:cNvSpPr txBox="1"/>
          <p:nvPr/>
        </p:nvSpPr>
        <p:spPr>
          <a:xfrm>
            <a:off x="548640" y="1417320"/>
            <a:ext cx="4206240" cy="1005840"/>
          </a:xfrm>
          <a:prstGeom prst="rect">
            <a:avLst/>
          </a:prstGeom>
          <a:noFill/>
        </p:spPr>
        <p:txBody>
          <a:bodyPr wrap="square">
            <a:spAutoFit/>
          </a:bodyPr>
          <a:lstStyle/>
          <a:p>
            <a:pPr algn="l">
              <a:spcAft>
                <a:spcPts val="600"/>
              </a:spcAft>
              <a:defRPr sz="1000" b="0">
                <a:solidFill>
                  <a:srgbClr val="1A1A2E"/>
                </a:solidFill>
                <a:latin typeface="Calibri"/>
              </a:defRPr>
            </a:pPr>
            <a:r>
              <a:t>1. Fenwick Tree (BIT) — Cumulative traffic stats O(log n)</a:t>
            </a:r>
          </a:p>
          <a:p>
            <a:pPr algn="l">
              <a:spcAft>
                <a:spcPts val="600"/>
              </a:spcAft>
              <a:defRPr sz="1000" b="0">
                <a:solidFill>
                  <a:srgbClr val="1A1A2E"/>
                </a:solidFill>
                <a:latin typeface="Calibri"/>
              </a:defRPr>
            </a:pPr>
            <a:r>
              <a:t>2. Bit Ops — i += i &amp; (-i) for prefix sum updates</a:t>
            </a:r>
          </a:p>
          <a:p>
            <a:pPr algn="l">
              <a:spcAft>
                <a:spcPts val="600"/>
              </a:spcAft>
              <a:defRPr sz="1000" b="0">
                <a:solidFill>
                  <a:srgbClr val="1A1A2E"/>
                </a:solidFill>
                <a:latin typeface="Calibri"/>
              </a:defRPr>
            </a:pPr>
            <a:r>
              <a:t>3. Fenwick range query = prefix(R) - prefix(L-1)</a:t>
            </a:r>
          </a:p>
        </p:txBody>
      </p:sp>
      <p:sp>
        <p:nvSpPr>
          <p:cNvPr id="9" name="Rounded Rectangle 8"/>
          <p:cNvSpPr/>
          <p:nvPr/>
        </p:nvSpPr>
        <p:spPr>
          <a:xfrm>
            <a:off x="5212080" y="1143000"/>
            <a:ext cx="6583680" cy="1371600"/>
          </a:xfrm>
          <a:prstGeom prst="roundRect">
            <a:avLst>
              <a:gd name="adj" fmla="val 10000"/>
            </a:avLst>
          </a:prstGeom>
          <a:solidFill>
            <a:srgbClr val="FDF2E3"/>
          </a:solidFill>
          <a:ln w="19050">
            <a:solidFill>
              <a:srgbClr val="E67E2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394960" y="1170432"/>
            <a:ext cx="6217920" cy="274320"/>
          </a:xfrm>
          <a:prstGeom prst="rect">
            <a:avLst/>
          </a:prstGeom>
          <a:noFill/>
        </p:spPr>
        <p:txBody>
          <a:bodyPr wrap="square">
            <a:spAutoFit/>
          </a:bodyPr>
          <a:lstStyle/>
          <a:p>
            <a:pPr algn="ctr">
              <a:defRPr sz="1200" b="1">
                <a:solidFill>
                  <a:srgbClr val="E67E22"/>
                </a:solidFill>
                <a:latin typeface="Calibri"/>
              </a:defRPr>
            </a:pPr>
            <a:r>
              <a:t>❓ Why These Data Structures?</a:t>
            </a:r>
          </a:p>
        </p:txBody>
      </p:sp>
      <p:sp>
        <p:nvSpPr>
          <p:cNvPr id="11" name="TextBox 10"/>
          <p:cNvSpPr txBox="1"/>
          <p:nvPr/>
        </p:nvSpPr>
        <p:spPr>
          <a:xfrm>
            <a:off x="5394960" y="1417320"/>
            <a:ext cx="6217920" cy="1005840"/>
          </a:xfrm>
          <a:prstGeom prst="rect">
            <a:avLst/>
          </a:prstGeom>
          <a:noFill/>
        </p:spPr>
        <p:txBody>
          <a:bodyPr wrap="square">
            <a:spAutoFit/>
          </a:bodyPr>
          <a:lstStyle/>
          <a:p>
            <a:pPr algn="l">
              <a:spcAft>
                <a:spcPts val="600"/>
              </a:spcAft>
              <a:defRPr sz="1000" b="0">
                <a:solidFill>
                  <a:srgbClr val="1A1A2E"/>
                </a:solidFill>
                <a:latin typeface="Calibri"/>
              </a:defRPr>
            </a:pPr>
            <a:r>
              <a:t>• RoadID ordering → natural for range queries</a:t>
            </a:r>
          </a:p>
          <a:p>
            <a:pPr algn="l">
              <a:spcAft>
                <a:spcPts val="600"/>
              </a:spcAft>
              <a:defRPr sz="1000" b="0">
                <a:solidFill>
                  <a:srgbClr val="1A1A2E"/>
                </a:solidFill>
                <a:latin typeface="Calibri"/>
              </a:defRPr>
            </a:pPr>
            <a:r>
              <a:t>• Real-time aggregation needs O(log n), not O(n)</a:t>
            </a:r>
          </a:p>
          <a:p>
            <a:pPr algn="l">
              <a:spcAft>
                <a:spcPts val="600"/>
              </a:spcAft>
              <a:defRPr sz="1000" b="0">
                <a:solidFill>
                  <a:srgbClr val="1A1A2E"/>
                </a:solidFill>
                <a:latin typeface="Calibri"/>
              </a:defRPr>
            </a:pPr>
            <a:r>
              <a:t>• Avoids full table scans on 1000+ road segments</a:t>
            </a:r>
          </a:p>
        </p:txBody>
      </p:sp>
      <p:sp>
        <p:nvSpPr>
          <p:cNvPr id="35" name="TextBox 34"/>
          <p:cNvSpPr txBox="1"/>
          <p:nvPr/>
        </p:nvSpPr>
        <p:spPr>
          <a:xfrm>
            <a:off x="457200" y="6400800"/>
            <a:ext cx="10972800" cy="365760"/>
          </a:xfrm>
          <a:prstGeom prst="rect">
            <a:avLst/>
          </a:prstGeom>
          <a:noFill/>
        </p:spPr>
        <p:txBody>
          <a:bodyPr wrap="square">
            <a:spAutoFit/>
          </a:bodyPr>
          <a:lstStyle/>
          <a:p>
            <a:pPr algn="ctr">
              <a:defRPr sz="900" b="0">
                <a:solidFill>
                  <a:srgbClr val="55556E"/>
                </a:solidFill>
                <a:latin typeface="Calibri"/>
              </a:defRPr>
            </a:pPr>
            <a:r>
              <a:t>UrbanAI | Smart City Infrastructure Optimization Platform</a:t>
            </a:r>
          </a:p>
        </p:txBody>
      </p:sp>
      <p:pic>
        <p:nvPicPr>
          <p:cNvPr id="37" name="Picture 36" descr="The diagram illustrates a step-by-step process for inserting traffic data into a system, involving user input, object creation, updating a Fenwick tree, database insertion, and adding the record to an in-memory ArrayList.&#10;&#10;AI-generated content may be incorrect.">
            <a:extLst>
              <a:ext uri="{FF2B5EF4-FFF2-40B4-BE49-F238E27FC236}">
                <a16:creationId xmlns:a16="http://schemas.microsoft.com/office/drawing/2014/main" id="{683852C9-5300-3762-BF19-EF9A6C2DBD13}"/>
              </a:ext>
            </a:extLst>
          </p:cNvPr>
          <p:cNvPicPr>
            <a:picLocks noChangeAspect="1"/>
          </p:cNvPicPr>
          <p:nvPr/>
        </p:nvPicPr>
        <p:blipFill>
          <a:blip r:embed="rId2"/>
          <a:stretch>
            <a:fillRect/>
          </a:stretch>
        </p:blipFill>
        <p:spPr>
          <a:xfrm>
            <a:off x="4634334" y="2988745"/>
            <a:ext cx="3162323" cy="2581294"/>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0F4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2C6F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74320"/>
            <a:ext cx="10972800" cy="553998"/>
          </a:xfrm>
          <a:prstGeom prst="rect">
            <a:avLst/>
          </a:prstGeom>
          <a:noFill/>
        </p:spPr>
        <p:txBody>
          <a:bodyPr wrap="square">
            <a:spAutoFit/>
          </a:bodyPr>
          <a:lstStyle/>
          <a:p>
            <a:pPr algn="l">
              <a:defRPr sz="3000" b="1">
                <a:solidFill>
                  <a:srgbClr val="2C6FBB"/>
                </a:solidFill>
                <a:latin typeface="Calibri"/>
              </a:defRPr>
            </a:pPr>
            <a:r>
              <a:rPr dirty="0"/>
              <a:t>Module 3: Graph Algorithms for City Networks </a:t>
            </a:r>
          </a:p>
        </p:txBody>
      </p:sp>
      <p:sp>
        <p:nvSpPr>
          <p:cNvPr id="4" name="TextBox 3"/>
          <p:cNvSpPr txBox="1"/>
          <p:nvPr/>
        </p:nvSpPr>
        <p:spPr>
          <a:xfrm>
            <a:off x="548640" y="777240"/>
            <a:ext cx="10972800" cy="365760"/>
          </a:xfrm>
          <a:prstGeom prst="rect">
            <a:avLst/>
          </a:prstGeom>
          <a:noFill/>
        </p:spPr>
        <p:txBody>
          <a:bodyPr wrap="square">
            <a:spAutoFit/>
          </a:bodyPr>
          <a:lstStyle/>
          <a:p>
            <a:pPr algn="l">
              <a:defRPr sz="1600" b="0">
                <a:solidFill>
                  <a:srgbClr val="55556E"/>
                </a:solidFill>
                <a:latin typeface="Calibri"/>
              </a:defRPr>
            </a:pPr>
            <a:r>
              <a:t>Road Network Analysis: BFS &amp; DFS for Route Planning</a:t>
            </a:r>
          </a:p>
        </p:txBody>
      </p:sp>
      <p:sp>
        <p:nvSpPr>
          <p:cNvPr id="5" name="Rectangle 4"/>
          <p:cNvSpPr/>
          <p:nvPr/>
        </p:nvSpPr>
        <p:spPr>
          <a:xfrm>
            <a:off x="548640" y="1097280"/>
            <a:ext cx="10972800" cy="27432"/>
          </a:xfrm>
          <a:prstGeom prst="rect">
            <a:avLst/>
          </a:prstGeom>
          <a:solidFill>
            <a:srgbClr val="2C6F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365760" y="1097280"/>
            <a:ext cx="4114800" cy="1234440"/>
          </a:xfrm>
          <a:prstGeom prst="roundRect">
            <a:avLst>
              <a:gd name="adj" fmla="val 10000"/>
            </a:avLst>
          </a:prstGeom>
          <a:solidFill>
            <a:srgbClr val="E3F2FD"/>
          </a:solidFill>
          <a:ln w="19050">
            <a:solidFill>
              <a:srgbClr val="2C6FB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8640" y="1115568"/>
            <a:ext cx="3840480" cy="228600"/>
          </a:xfrm>
          <a:prstGeom prst="rect">
            <a:avLst/>
          </a:prstGeom>
          <a:noFill/>
        </p:spPr>
        <p:txBody>
          <a:bodyPr wrap="square">
            <a:spAutoFit/>
          </a:bodyPr>
          <a:lstStyle/>
          <a:p>
            <a:pPr algn="ctr">
              <a:defRPr sz="1100" b="1">
                <a:solidFill>
                  <a:srgbClr val="2C6FBB"/>
                </a:solidFill>
                <a:latin typeface="Calibri"/>
              </a:defRPr>
            </a:pPr>
            <a:r>
              <a:t>📋 DSA Techniques Used</a:t>
            </a:r>
          </a:p>
        </p:txBody>
      </p:sp>
      <p:sp>
        <p:nvSpPr>
          <p:cNvPr id="8" name="TextBox 7"/>
          <p:cNvSpPr txBox="1"/>
          <p:nvPr/>
        </p:nvSpPr>
        <p:spPr>
          <a:xfrm>
            <a:off x="548640" y="1371600"/>
            <a:ext cx="3840480" cy="868680"/>
          </a:xfrm>
          <a:prstGeom prst="rect">
            <a:avLst/>
          </a:prstGeom>
          <a:noFill/>
        </p:spPr>
        <p:txBody>
          <a:bodyPr wrap="square">
            <a:spAutoFit/>
          </a:bodyPr>
          <a:lstStyle/>
          <a:p>
            <a:pPr algn="l">
              <a:spcAft>
                <a:spcPts val="359"/>
              </a:spcAft>
              <a:defRPr sz="900" b="0">
                <a:solidFill>
                  <a:srgbClr val="1A1A2E"/>
                </a:solidFill>
                <a:latin typeface="Calibri"/>
              </a:defRPr>
            </a:pPr>
            <a:r>
              <a:t>1. Graph (Adj List) — roads=edges, nodes=intersections</a:t>
            </a:r>
          </a:p>
          <a:p>
            <a:pPr algn="l">
              <a:spcAft>
                <a:spcPts val="359"/>
              </a:spcAft>
              <a:defRPr sz="900" b="0">
                <a:solidFill>
                  <a:srgbClr val="1A1A2E"/>
                </a:solidFill>
                <a:latin typeface="Calibri"/>
              </a:defRPr>
            </a:pPr>
            <a:r>
              <a:t>2. BFS — Shortest path routing (Queue-based)</a:t>
            </a:r>
          </a:p>
          <a:p>
            <a:pPr algn="l">
              <a:spcAft>
                <a:spcPts val="359"/>
              </a:spcAft>
              <a:defRPr sz="900" b="0">
                <a:solidFill>
                  <a:srgbClr val="1A1A2E"/>
                </a:solidFill>
                <a:latin typeface="Calibri"/>
              </a:defRPr>
            </a:pPr>
            <a:r>
              <a:t>3. DFS — Region detection (Stack/Recursion)</a:t>
            </a:r>
          </a:p>
        </p:txBody>
      </p:sp>
      <p:sp>
        <p:nvSpPr>
          <p:cNvPr id="9" name="Rounded Rectangle 8"/>
          <p:cNvSpPr/>
          <p:nvPr/>
        </p:nvSpPr>
        <p:spPr>
          <a:xfrm>
            <a:off x="4754880" y="1097280"/>
            <a:ext cx="7040880" cy="1234440"/>
          </a:xfrm>
          <a:prstGeom prst="roundRect">
            <a:avLst>
              <a:gd name="adj" fmla="val 10000"/>
            </a:avLst>
          </a:prstGeom>
          <a:solidFill>
            <a:srgbClr val="FDF2E3"/>
          </a:solidFill>
          <a:ln w="19050">
            <a:solidFill>
              <a:srgbClr val="E67E2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937760" y="1115568"/>
            <a:ext cx="6675120" cy="228600"/>
          </a:xfrm>
          <a:prstGeom prst="rect">
            <a:avLst/>
          </a:prstGeom>
          <a:noFill/>
        </p:spPr>
        <p:txBody>
          <a:bodyPr wrap="square">
            <a:spAutoFit/>
          </a:bodyPr>
          <a:lstStyle/>
          <a:p>
            <a:pPr algn="ctr">
              <a:defRPr sz="1100" b="1">
                <a:solidFill>
                  <a:srgbClr val="E67E22"/>
                </a:solidFill>
                <a:latin typeface="Calibri"/>
              </a:defRPr>
            </a:pPr>
            <a:r>
              <a:t>❓ Why These Algorithms?</a:t>
            </a:r>
          </a:p>
        </p:txBody>
      </p:sp>
      <p:sp>
        <p:nvSpPr>
          <p:cNvPr id="11" name="TextBox 10"/>
          <p:cNvSpPr txBox="1"/>
          <p:nvPr/>
        </p:nvSpPr>
        <p:spPr>
          <a:xfrm>
            <a:off x="4937760" y="1371600"/>
            <a:ext cx="6675120" cy="868680"/>
          </a:xfrm>
          <a:prstGeom prst="rect">
            <a:avLst/>
          </a:prstGeom>
          <a:noFill/>
        </p:spPr>
        <p:txBody>
          <a:bodyPr wrap="square">
            <a:spAutoFit/>
          </a:bodyPr>
          <a:lstStyle/>
          <a:p>
            <a:pPr algn="l">
              <a:spcAft>
                <a:spcPts val="359"/>
              </a:spcAft>
              <a:defRPr sz="900" b="0">
                <a:solidFill>
                  <a:srgbClr val="1A1A2E"/>
                </a:solidFill>
                <a:latin typeface="Calibri"/>
              </a:defRPr>
            </a:pPr>
            <a:r>
              <a:t>• Roads = edges, Intersections = vertices → City is a Graph!</a:t>
            </a:r>
          </a:p>
          <a:p>
            <a:pPr algn="l">
              <a:spcAft>
                <a:spcPts val="359"/>
              </a:spcAft>
              <a:defRPr sz="900" b="0">
                <a:solidFill>
                  <a:srgbClr val="1A1A2E"/>
                </a:solidFill>
                <a:latin typeface="Calibri"/>
              </a:defRPr>
            </a:pPr>
            <a:r>
              <a:t>• BFS → fastest emergency vehicle route (shortest path)</a:t>
            </a:r>
          </a:p>
          <a:p>
            <a:pPr algn="l">
              <a:spcAft>
                <a:spcPts val="359"/>
              </a:spcAft>
              <a:defRPr sz="900" b="0">
                <a:solidFill>
                  <a:srgbClr val="1A1A2E"/>
                </a:solidFill>
                <a:latin typeface="Calibri"/>
              </a:defRPr>
            </a:pPr>
            <a:r>
              <a:t>• DFS → detect disconnected neighborhoods (cycle detection)</a:t>
            </a:r>
          </a:p>
        </p:txBody>
      </p:sp>
      <p:sp>
        <p:nvSpPr>
          <p:cNvPr id="12" name="TextBox 11"/>
          <p:cNvSpPr txBox="1"/>
          <p:nvPr/>
        </p:nvSpPr>
        <p:spPr>
          <a:xfrm>
            <a:off x="274320" y="2468880"/>
            <a:ext cx="11430000" cy="228600"/>
          </a:xfrm>
          <a:prstGeom prst="rect">
            <a:avLst/>
          </a:prstGeom>
          <a:noFill/>
        </p:spPr>
        <p:txBody>
          <a:bodyPr wrap="square">
            <a:spAutoFit/>
          </a:bodyPr>
          <a:lstStyle/>
          <a:p>
            <a:pPr algn="ctr">
              <a:defRPr sz="1100" b="1">
                <a:solidFill>
                  <a:srgbClr val="C0392B"/>
                </a:solidFill>
                <a:latin typeface="Calibri"/>
              </a:defRPr>
            </a:pPr>
            <a:r>
              <a:t>📊 Step-by-Step Algorithm Flows — How Each Algorithm Processes the City Road Network</a:t>
            </a:r>
          </a:p>
        </p:txBody>
      </p:sp>
      <p:sp>
        <p:nvSpPr>
          <p:cNvPr id="13" name="Rounded Rectangle 12"/>
          <p:cNvSpPr/>
          <p:nvPr/>
        </p:nvSpPr>
        <p:spPr>
          <a:xfrm>
            <a:off x="274320" y="2697480"/>
            <a:ext cx="5486400" cy="256032"/>
          </a:xfrm>
          <a:prstGeom prst="roundRect">
            <a:avLst>
              <a:gd name="adj" fmla="val 10000"/>
            </a:avLst>
          </a:prstGeom>
          <a:solidFill>
            <a:srgbClr val="27AE60"/>
          </a:solidFill>
          <a:ln w="1905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74320" y="2703092"/>
            <a:ext cx="5486400" cy="256032"/>
          </a:xfrm>
          <a:prstGeom prst="rect">
            <a:avLst/>
          </a:prstGeom>
          <a:noFill/>
        </p:spPr>
        <p:txBody>
          <a:bodyPr wrap="square">
            <a:spAutoFit/>
          </a:bodyPr>
          <a:lstStyle/>
          <a:p>
            <a:pPr algn="ctr">
              <a:defRPr sz="1000" b="1">
                <a:solidFill>
                  <a:srgbClr val="FFFFFF"/>
                </a:solidFill>
                <a:latin typeface="Calibri"/>
              </a:defRPr>
            </a:pPr>
            <a:r>
              <a:t>🌊 BFS — Emergency Route Planning</a:t>
            </a:r>
          </a:p>
        </p:txBody>
      </p:sp>
      <p:sp>
        <p:nvSpPr>
          <p:cNvPr id="15" name="Rounded Rectangle 14"/>
          <p:cNvSpPr/>
          <p:nvPr/>
        </p:nvSpPr>
        <p:spPr>
          <a:xfrm>
            <a:off x="274320" y="3158421"/>
            <a:ext cx="5486400" cy="438912"/>
          </a:xfrm>
          <a:prstGeom prst="roundRect">
            <a:avLst>
              <a:gd name="adj" fmla="val 10000"/>
            </a:avLst>
          </a:prstGeom>
          <a:solidFill>
            <a:srgbClr val="E8F5E9"/>
          </a:solidFill>
          <a:ln w="19050">
            <a:solidFill>
              <a:srgbClr val="2C6FB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defRPr sz="900" b="0">
                <a:solidFill>
                  <a:srgbClr val="1A1A2E"/>
                </a:solidFill>
                <a:latin typeface="Calibri"/>
              </a:defRPr>
            </a:pPr>
            <a:r>
              <a:t>STEP 1: Build adjacency list of road network</a:t>
            </a:r>
            <a:br/>
            <a:r>
              <a:t>Intersections (nodes) connected by roads (edges) — 6 nodes, 5 edges</a:t>
            </a:r>
          </a:p>
        </p:txBody>
      </p:sp>
      <p:sp>
        <p:nvSpPr>
          <p:cNvPr id="16" name="Down Arrow 15"/>
          <p:cNvSpPr/>
          <p:nvPr/>
        </p:nvSpPr>
        <p:spPr>
          <a:xfrm>
            <a:off x="2926080" y="3632246"/>
            <a:ext cx="182880" cy="109728"/>
          </a:xfrm>
          <a:prstGeom prst="downArrow">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274320" y="3803697"/>
            <a:ext cx="5486400" cy="438912"/>
          </a:xfrm>
          <a:prstGeom prst="roundRect">
            <a:avLst>
              <a:gd name="adj" fmla="val 10000"/>
            </a:avLst>
          </a:prstGeom>
          <a:solidFill>
            <a:srgbClr val="C8E6C9"/>
          </a:solidFill>
          <a:ln w="19050">
            <a:solidFill>
              <a:srgbClr val="2C6FB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defRPr sz="900" b="0">
                <a:solidFill>
                  <a:srgbClr val="1A1A2E"/>
                </a:solidFill>
                <a:latin typeface="Calibri"/>
              </a:defRPr>
            </a:pPr>
            <a:r>
              <a:t>STEP 2: Initialize Queue with start intersection</a:t>
            </a:r>
            <a:br/>
            <a:r>
              <a:t>Mark visited → enqueue node 0 (Emergency HQ), dequeue → visit neighbors</a:t>
            </a:r>
          </a:p>
        </p:txBody>
      </p:sp>
      <p:sp>
        <p:nvSpPr>
          <p:cNvPr id="18" name="Down Arrow 17"/>
          <p:cNvSpPr/>
          <p:nvPr/>
        </p:nvSpPr>
        <p:spPr>
          <a:xfrm>
            <a:off x="2926080" y="4346725"/>
            <a:ext cx="182880" cy="109728"/>
          </a:xfrm>
          <a:prstGeom prst="downArrow">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274320" y="4518383"/>
            <a:ext cx="5486400" cy="438912"/>
          </a:xfrm>
          <a:prstGeom prst="roundRect">
            <a:avLst>
              <a:gd name="adj" fmla="val 10000"/>
            </a:avLst>
          </a:prstGeom>
          <a:solidFill>
            <a:srgbClr val="A5D6A7"/>
          </a:solidFill>
          <a:ln w="19050">
            <a:solidFill>
              <a:srgbClr val="2C6FB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defRPr sz="900" b="0">
                <a:solidFill>
                  <a:srgbClr val="1A1A2E"/>
                </a:solidFill>
                <a:latin typeface="Calibri"/>
              </a:defRPr>
            </a:pPr>
            <a:r>
              <a:t>STEP 3: Dequeue each node → visit all unvisited neighbors</a:t>
            </a:r>
            <a:br/>
            <a:r>
              <a:t>Enqueue them → repeat until queue is empty → shortest path found!</a:t>
            </a:r>
          </a:p>
        </p:txBody>
      </p:sp>
      <p:sp>
        <p:nvSpPr>
          <p:cNvPr id="20" name="Down Arrow 19"/>
          <p:cNvSpPr/>
          <p:nvPr/>
        </p:nvSpPr>
        <p:spPr>
          <a:xfrm>
            <a:off x="2930236" y="5006340"/>
            <a:ext cx="182880" cy="109728"/>
          </a:xfrm>
          <a:prstGeom prst="downArrow">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274320" y="5184648"/>
            <a:ext cx="5486400" cy="438912"/>
          </a:xfrm>
          <a:prstGeom prst="roundRect">
            <a:avLst>
              <a:gd name="adj" fmla="val 10000"/>
            </a:avLst>
          </a:prstGeom>
          <a:solidFill>
            <a:srgbClr val="81C784"/>
          </a:solidFill>
          <a:ln w="19050">
            <a:solidFill>
              <a:srgbClr val="2C6FB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defRPr sz="900" b="0">
                <a:solidFill>
                  <a:srgbClr val="1A1A2E"/>
                </a:solidFill>
                <a:latin typeface="Calibri"/>
              </a:defRPr>
            </a:pPr>
            <a:r>
              <a:t>STEP 4: Output traversal + shortest path to every node</a:t>
            </a:r>
            <a:br/>
            <a:r>
              <a:t>Route: 0→1→3→5 = fastest emergency response route ✅</a:t>
            </a:r>
          </a:p>
        </p:txBody>
      </p:sp>
      <p:sp>
        <p:nvSpPr>
          <p:cNvPr id="22" name="Rounded Rectangle 21"/>
          <p:cNvSpPr/>
          <p:nvPr/>
        </p:nvSpPr>
        <p:spPr>
          <a:xfrm>
            <a:off x="6126480" y="2697480"/>
            <a:ext cx="5486400" cy="256032"/>
          </a:xfrm>
          <a:prstGeom prst="roundRect">
            <a:avLst>
              <a:gd name="adj" fmla="val 10000"/>
            </a:avLst>
          </a:prstGeom>
          <a:solidFill>
            <a:srgbClr val="2C6FBB"/>
          </a:solidFill>
          <a:ln w="19050">
            <a:solidFill>
              <a:srgbClr val="2C6FB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126480" y="2697480"/>
            <a:ext cx="5486400" cy="256032"/>
          </a:xfrm>
          <a:prstGeom prst="rect">
            <a:avLst/>
          </a:prstGeom>
          <a:noFill/>
        </p:spPr>
        <p:txBody>
          <a:bodyPr wrap="square">
            <a:spAutoFit/>
          </a:bodyPr>
          <a:lstStyle/>
          <a:p>
            <a:pPr algn="ctr">
              <a:defRPr sz="1000" b="1">
                <a:solidFill>
                  <a:srgbClr val="FFFFFF"/>
                </a:solidFill>
                <a:latin typeface="Calibri"/>
              </a:defRPr>
            </a:pPr>
            <a:r>
              <a:t>🌀 DFS — Infrastructure Region Detection</a:t>
            </a:r>
          </a:p>
        </p:txBody>
      </p:sp>
      <p:sp>
        <p:nvSpPr>
          <p:cNvPr id="24" name="Rounded Rectangle 23"/>
          <p:cNvSpPr/>
          <p:nvPr/>
        </p:nvSpPr>
        <p:spPr>
          <a:xfrm>
            <a:off x="6126480" y="3153381"/>
            <a:ext cx="5486400" cy="438912"/>
          </a:xfrm>
          <a:prstGeom prst="roundRect">
            <a:avLst>
              <a:gd name="adj" fmla="val 10000"/>
            </a:avLst>
          </a:prstGeom>
          <a:solidFill>
            <a:srgbClr val="E3F2FD"/>
          </a:solidFill>
          <a:ln w="19050">
            <a:solidFill>
              <a:srgbClr val="2C6FB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defRPr sz="900" b="0">
                <a:solidFill>
                  <a:srgbClr val="1A1A2E"/>
                </a:solidFill>
                <a:latin typeface="Calibri"/>
              </a:defRPr>
            </a:pPr>
            <a:r>
              <a:t>STEP 1: Use same graph (adjacency list)</a:t>
            </a:r>
            <a:br/>
            <a:r>
              <a:t>6 intersections, 5 roads — model city zones as connected graph</a:t>
            </a:r>
          </a:p>
        </p:txBody>
      </p:sp>
      <p:sp>
        <p:nvSpPr>
          <p:cNvPr id="25" name="Down Arrow 24"/>
          <p:cNvSpPr/>
          <p:nvPr/>
        </p:nvSpPr>
        <p:spPr>
          <a:xfrm>
            <a:off x="8911244" y="3655470"/>
            <a:ext cx="182880" cy="109728"/>
          </a:xfrm>
          <a:prstGeom prst="downArrow">
            <a:avLst/>
          </a:prstGeom>
          <a:solidFill>
            <a:srgbClr val="2C6F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ounded Rectangle 25"/>
          <p:cNvSpPr/>
          <p:nvPr/>
        </p:nvSpPr>
        <p:spPr>
          <a:xfrm>
            <a:off x="6168044" y="3792162"/>
            <a:ext cx="5486400" cy="438912"/>
          </a:xfrm>
          <a:prstGeom prst="roundRect">
            <a:avLst>
              <a:gd name="adj" fmla="val 10000"/>
            </a:avLst>
          </a:prstGeom>
          <a:solidFill>
            <a:srgbClr val="BBDEFB"/>
          </a:solidFill>
          <a:ln w="19050">
            <a:solidFill>
              <a:srgbClr val="2C6FB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defRPr sz="900" b="0">
                <a:solidFill>
                  <a:srgbClr val="1A1A2E"/>
                </a:solidFill>
                <a:latin typeface="Calibri"/>
              </a:defRPr>
            </a:pPr>
            <a:r>
              <a:t>STEP 2: Initialize Stack with start node</a:t>
            </a:r>
            <a:br/>
            <a:r>
              <a:t>Push 0 → mark visited → explore deep along each branch before backtracking</a:t>
            </a:r>
          </a:p>
        </p:txBody>
      </p:sp>
      <p:sp>
        <p:nvSpPr>
          <p:cNvPr id="27" name="Down Arrow 26"/>
          <p:cNvSpPr/>
          <p:nvPr/>
        </p:nvSpPr>
        <p:spPr>
          <a:xfrm>
            <a:off x="8900162" y="4297264"/>
            <a:ext cx="182880" cy="109728"/>
          </a:xfrm>
          <a:prstGeom prst="downArrow">
            <a:avLst/>
          </a:prstGeom>
          <a:solidFill>
            <a:srgbClr val="2C6F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6126480" y="4504251"/>
            <a:ext cx="5486400" cy="438912"/>
          </a:xfrm>
          <a:prstGeom prst="roundRect">
            <a:avLst>
              <a:gd name="adj" fmla="val 10000"/>
            </a:avLst>
          </a:prstGeom>
          <a:solidFill>
            <a:srgbClr val="90CAF9"/>
          </a:solidFill>
          <a:ln w="19050">
            <a:solidFill>
              <a:srgbClr val="2C6FB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defRPr sz="900" b="0">
                <a:solidFill>
                  <a:srgbClr val="1A1A2E"/>
                </a:solidFill>
                <a:latin typeface="Calibri"/>
              </a:defRPr>
            </a:pPr>
            <a:r>
              <a:t>STEP 3: Recursively visit first unvisited neighbor</a:t>
            </a:r>
            <a:br/>
            <a:r>
              <a:t>Go deep 0→1→3→5, backtrack, then explore 2→4 → covers all nodes</a:t>
            </a:r>
          </a:p>
        </p:txBody>
      </p:sp>
      <p:sp>
        <p:nvSpPr>
          <p:cNvPr id="29" name="Down Arrow 28"/>
          <p:cNvSpPr/>
          <p:nvPr/>
        </p:nvSpPr>
        <p:spPr>
          <a:xfrm>
            <a:off x="8869680" y="5006340"/>
            <a:ext cx="182880" cy="109728"/>
          </a:xfrm>
          <a:prstGeom prst="downArrow">
            <a:avLst/>
          </a:prstGeom>
          <a:solidFill>
            <a:srgbClr val="2C6F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ounded Rectangle 29"/>
          <p:cNvSpPr/>
          <p:nvPr/>
        </p:nvSpPr>
        <p:spPr>
          <a:xfrm>
            <a:off x="6126480" y="5193999"/>
            <a:ext cx="5486400" cy="438912"/>
          </a:xfrm>
          <a:prstGeom prst="roundRect">
            <a:avLst>
              <a:gd name="adj" fmla="val 10000"/>
            </a:avLst>
          </a:prstGeom>
          <a:solidFill>
            <a:srgbClr val="64B5F6"/>
          </a:solidFill>
          <a:ln w="19050">
            <a:solidFill>
              <a:srgbClr val="2C6FB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defRPr sz="900" b="0">
                <a:solidFill>
                  <a:srgbClr val="1A1A2E"/>
                </a:solidFill>
                <a:latin typeface="Calibri"/>
              </a:defRPr>
            </a:pPr>
            <a:r>
              <a:t>STEP 4: Output traversal order + connected regions</a:t>
            </a:r>
            <a:br/>
            <a:r>
              <a:t>Detect disconnected zones → plan new roads to connect them 🛣️</a:t>
            </a:r>
          </a:p>
        </p:txBody>
      </p:sp>
      <p:sp>
        <p:nvSpPr>
          <p:cNvPr id="33" name="TextBox 32"/>
          <p:cNvSpPr txBox="1"/>
          <p:nvPr/>
        </p:nvSpPr>
        <p:spPr>
          <a:xfrm>
            <a:off x="457200" y="6400800"/>
            <a:ext cx="10972800" cy="365760"/>
          </a:xfrm>
          <a:prstGeom prst="rect">
            <a:avLst/>
          </a:prstGeom>
          <a:noFill/>
        </p:spPr>
        <p:txBody>
          <a:bodyPr wrap="square">
            <a:spAutoFit/>
          </a:bodyPr>
          <a:lstStyle/>
          <a:p>
            <a:pPr algn="ctr">
              <a:defRPr sz="900" b="0">
                <a:solidFill>
                  <a:srgbClr val="55556E"/>
                </a:solidFill>
                <a:latin typeface="Calibri"/>
              </a:defRPr>
            </a:pPr>
            <a:r>
              <a:t>UrbanAI | Smart City Infrastructure Optimization Platform</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0F4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2C6F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74320"/>
            <a:ext cx="10972800" cy="553998"/>
          </a:xfrm>
          <a:prstGeom prst="rect">
            <a:avLst/>
          </a:prstGeom>
          <a:noFill/>
        </p:spPr>
        <p:txBody>
          <a:bodyPr wrap="square">
            <a:spAutoFit/>
          </a:bodyPr>
          <a:lstStyle/>
          <a:p>
            <a:pPr algn="l">
              <a:defRPr sz="3000" b="1">
                <a:solidFill>
                  <a:srgbClr val="2C6FBB"/>
                </a:solidFill>
                <a:latin typeface="Calibri"/>
              </a:defRPr>
            </a:pPr>
            <a:r>
              <a:rPr dirty="0"/>
              <a:t>Module 4a: Shortest Path Optimization — Dijkstra </a:t>
            </a:r>
          </a:p>
        </p:txBody>
      </p:sp>
      <p:sp>
        <p:nvSpPr>
          <p:cNvPr id="4" name="TextBox 3"/>
          <p:cNvSpPr txBox="1"/>
          <p:nvPr/>
        </p:nvSpPr>
        <p:spPr>
          <a:xfrm>
            <a:off x="548640" y="777240"/>
            <a:ext cx="10972800" cy="365760"/>
          </a:xfrm>
          <a:prstGeom prst="rect">
            <a:avLst/>
          </a:prstGeom>
          <a:noFill/>
        </p:spPr>
        <p:txBody>
          <a:bodyPr wrap="square">
            <a:spAutoFit/>
          </a:bodyPr>
          <a:lstStyle/>
          <a:p>
            <a:pPr algn="l">
              <a:defRPr sz="1600" b="0">
                <a:solidFill>
                  <a:srgbClr val="55556E"/>
                </a:solidFill>
                <a:latin typeface="Calibri"/>
              </a:defRPr>
            </a:pPr>
            <a:r>
              <a:t>Emergency Routes &amp; Fastest Path Analysis</a:t>
            </a:r>
          </a:p>
        </p:txBody>
      </p:sp>
      <p:sp>
        <p:nvSpPr>
          <p:cNvPr id="5" name="Rectangle 4"/>
          <p:cNvSpPr/>
          <p:nvPr/>
        </p:nvSpPr>
        <p:spPr>
          <a:xfrm>
            <a:off x="548640" y="1097280"/>
            <a:ext cx="10972800" cy="27432"/>
          </a:xfrm>
          <a:prstGeom prst="rect">
            <a:avLst/>
          </a:prstGeom>
          <a:solidFill>
            <a:srgbClr val="2C6F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365760" y="1097280"/>
            <a:ext cx="4572000" cy="1554480"/>
          </a:xfrm>
          <a:prstGeom prst="roundRect">
            <a:avLst>
              <a:gd name="adj" fmla="val 10000"/>
            </a:avLst>
          </a:prstGeom>
          <a:solidFill>
            <a:srgbClr val="E3F2FD"/>
          </a:solidFill>
          <a:ln w="19050">
            <a:solidFill>
              <a:srgbClr val="2C6FB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8640" y="1115568"/>
            <a:ext cx="4206240" cy="228600"/>
          </a:xfrm>
          <a:prstGeom prst="rect">
            <a:avLst/>
          </a:prstGeom>
          <a:noFill/>
        </p:spPr>
        <p:txBody>
          <a:bodyPr wrap="square">
            <a:spAutoFit/>
          </a:bodyPr>
          <a:lstStyle/>
          <a:p>
            <a:pPr algn="ctr">
              <a:defRPr sz="1200" b="1">
                <a:solidFill>
                  <a:srgbClr val="2C6FBB"/>
                </a:solidFill>
                <a:latin typeface="Calibri"/>
              </a:defRPr>
            </a:pPr>
            <a:r>
              <a:t>📋 Techniques</a:t>
            </a:r>
          </a:p>
        </p:txBody>
      </p:sp>
      <p:sp>
        <p:nvSpPr>
          <p:cNvPr id="8" name="TextBox 7"/>
          <p:cNvSpPr txBox="1"/>
          <p:nvPr/>
        </p:nvSpPr>
        <p:spPr>
          <a:xfrm>
            <a:off x="548640" y="1371600"/>
            <a:ext cx="4206240" cy="1188720"/>
          </a:xfrm>
          <a:prstGeom prst="rect">
            <a:avLst/>
          </a:prstGeom>
          <a:noFill/>
        </p:spPr>
        <p:txBody>
          <a:bodyPr wrap="square">
            <a:spAutoFit/>
          </a:bodyPr>
          <a:lstStyle/>
          <a:p>
            <a:pPr algn="l">
              <a:spcAft>
                <a:spcPts val="600"/>
              </a:spcAft>
              <a:defRPr sz="1000" b="0">
                <a:solidFill>
                  <a:srgbClr val="1A1A2E"/>
                </a:solidFill>
                <a:latin typeface="Calibri"/>
              </a:defRPr>
            </a:pPr>
            <a:r>
              <a:t>1. Dijkstra — Single-source shortest path (positive weights)</a:t>
            </a:r>
          </a:p>
          <a:p>
            <a:pPr algn="l">
              <a:spcAft>
                <a:spcPts val="600"/>
              </a:spcAft>
              <a:defRPr sz="1000" b="0">
                <a:solidFill>
                  <a:srgbClr val="1A1A2E"/>
                </a:solidFill>
                <a:latin typeface="Calibri"/>
              </a:defRPr>
            </a:pPr>
            <a:r>
              <a:t>2. Floyd-Warshall → next slide for all-pairs analysis</a:t>
            </a:r>
          </a:p>
        </p:txBody>
      </p:sp>
      <p:sp>
        <p:nvSpPr>
          <p:cNvPr id="9" name="Rounded Rectangle 8"/>
          <p:cNvSpPr/>
          <p:nvPr/>
        </p:nvSpPr>
        <p:spPr>
          <a:xfrm>
            <a:off x="5212080" y="1097280"/>
            <a:ext cx="6583680" cy="1554480"/>
          </a:xfrm>
          <a:prstGeom prst="roundRect">
            <a:avLst>
              <a:gd name="adj" fmla="val 10000"/>
            </a:avLst>
          </a:prstGeom>
          <a:solidFill>
            <a:srgbClr val="FDF2E3"/>
          </a:solidFill>
          <a:ln w="19050">
            <a:solidFill>
              <a:srgbClr val="E67E2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394960" y="1115568"/>
            <a:ext cx="6217920" cy="228600"/>
          </a:xfrm>
          <a:prstGeom prst="rect">
            <a:avLst/>
          </a:prstGeom>
          <a:noFill/>
        </p:spPr>
        <p:txBody>
          <a:bodyPr wrap="square">
            <a:spAutoFit/>
          </a:bodyPr>
          <a:lstStyle/>
          <a:p>
            <a:pPr algn="ctr">
              <a:defRPr sz="1200" b="1">
                <a:solidFill>
                  <a:srgbClr val="E67E22"/>
                </a:solidFill>
                <a:latin typeface="Calibri"/>
              </a:defRPr>
            </a:pPr>
            <a:r>
              <a:t>❓ Why?</a:t>
            </a:r>
          </a:p>
        </p:txBody>
      </p:sp>
      <p:sp>
        <p:nvSpPr>
          <p:cNvPr id="11" name="TextBox 10"/>
          <p:cNvSpPr txBox="1"/>
          <p:nvPr/>
        </p:nvSpPr>
        <p:spPr>
          <a:xfrm>
            <a:off x="5394960" y="1371600"/>
            <a:ext cx="6217920" cy="1188720"/>
          </a:xfrm>
          <a:prstGeom prst="rect">
            <a:avLst/>
          </a:prstGeom>
          <a:noFill/>
        </p:spPr>
        <p:txBody>
          <a:bodyPr wrap="square">
            <a:spAutoFit/>
          </a:bodyPr>
          <a:lstStyle/>
          <a:p>
            <a:pPr algn="l">
              <a:spcAft>
                <a:spcPts val="600"/>
              </a:spcAft>
              <a:defRPr sz="1000" b="0">
                <a:solidFill>
                  <a:srgbClr val="1A1A2E"/>
                </a:solidFill>
                <a:latin typeface="Calibri"/>
              </a:defRPr>
            </a:pPr>
            <a:r>
              <a:t>• Dijkstra: fastest emergency route with positive edge weights</a:t>
            </a:r>
          </a:p>
          <a:p>
            <a:pPr algn="l">
              <a:spcAft>
                <a:spcPts val="600"/>
              </a:spcAft>
              <a:defRPr sz="1000" b="0">
                <a:solidFill>
                  <a:srgbClr val="1A1A2E"/>
                </a:solidFill>
                <a:latin typeface="Calibri"/>
              </a:defRPr>
            </a:pPr>
            <a:r>
              <a:t>• Efficient O((V+E) log V) with priority queue</a:t>
            </a:r>
          </a:p>
        </p:txBody>
      </p:sp>
      <p:sp>
        <p:nvSpPr>
          <p:cNvPr id="12" name="TextBox 11"/>
          <p:cNvSpPr txBox="1"/>
          <p:nvPr/>
        </p:nvSpPr>
        <p:spPr>
          <a:xfrm>
            <a:off x="365760" y="2788920"/>
            <a:ext cx="5486400" cy="228600"/>
          </a:xfrm>
          <a:prstGeom prst="rect">
            <a:avLst/>
          </a:prstGeom>
          <a:noFill/>
        </p:spPr>
        <p:txBody>
          <a:bodyPr wrap="square">
            <a:spAutoFit/>
          </a:bodyPr>
          <a:lstStyle/>
          <a:p>
            <a:pPr algn="ctr">
              <a:defRPr sz="1200" b="1">
                <a:solidFill>
                  <a:srgbClr val="E67E22"/>
                </a:solidFill>
                <a:latin typeface="Calibri"/>
              </a:defRPr>
            </a:pPr>
            <a:r>
              <a:t>📊 Step-by-Step Flow — Dijkstra Single-Source Shortest Path</a:t>
            </a:r>
          </a:p>
        </p:txBody>
      </p:sp>
      <p:sp>
        <p:nvSpPr>
          <p:cNvPr id="13" name="Rounded Rectangle 12"/>
          <p:cNvSpPr/>
          <p:nvPr/>
        </p:nvSpPr>
        <p:spPr>
          <a:xfrm>
            <a:off x="1371600" y="3063240"/>
            <a:ext cx="9144000" cy="292608"/>
          </a:xfrm>
          <a:prstGeom prst="roundRect">
            <a:avLst>
              <a:gd name="adj" fmla="val 10000"/>
            </a:avLst>
          </a:prstGeom>
          <a:solidFill>
            <a:srgbClr val="2C6FBB"/>
          </a:solidFill>
          <a:ln w="19050">
            <a:solidFill>
              <a:srgbClr val="2C6FB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371600" y="3063240"/>
            <a:ext cx="9144000" cy="292608"/>
          </a:xfrm>
          <a:prstGeom prst="rect">
            <a:avLst/>
          </a:prstGeom>
          <a:noFill/>
        </p:spPr>
        <p:txBody>
          <a:bodyPr wrap="square">
            <a:spAutoFit/>
          </a:bodyPr>
          <a:lstStyle/>
          <a:p>
            <a:pPr algn="ctr">
              <a:defRPr sz="1300" b="1">
                <a:solidFill>
                  <a:srgbClr val="FFFFFF"/>
                </a:solidFill>
                <a:latin typeface="Calibri"/>
              </a:defRPr>
            </a:pPr>
            <a:r>
              <a:t>▶ DIJKSTRA: Find Emergency Route (Single-Source Shortest Path)</a:t>
            </a:r>
          </a:p>
        </p:txBody>
      </p:sp>
      <p:sp>
        <p:nvSpPr>
          <p:cNvPr id="15" name="Rounded Rectangle 14"/>
          <p:cNvSpPr/>
          <p:nvPr/>
        </p:nvSpPr>
        <p:spPr>
          <a:xfrm>
            <a:off x="1407969" y="3593592"/>
            <a:ext cx="9144000" cy="502920"/>
          </a:xfrm>
          <a:prstGeom prst="roundRect">
            <a:avLst>
              <a:gd name="adj" fmla="val 10000"/>
            </a:avLst>
          </a:prstGeom>
          <a:solidFill>
            <a:srgbClr val="E3F2FD"/>
          </a:solidFill>
          <a:ln w="19050">
            <a:solidFill>
              <a:srgbClr val="2C6FB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defRPr sz="1100" b="0">
                <a:solidFill>
                  <a:srgbClr val="1A1A2E"/>
                </a:solidFill>
                <a:latin typeface="Calibri"/>
              </a:defRPr>
            </a:pPr>
            <a:r>
              <a:t>STEP 1: Initialize graph[5][5] with adjacency matrix of 5 city locations</a:t>
            </a:r>
            <a:br/>
            <a:r>
              <a:t>Set dist[0]=0 (starting location), all other distances = INFINITY, visited[] = false</a:t>
            </a:r>
          </a:p>
        </p:txBody>
      </p:sp>
      <p:sp>
        <p:nvSpPr>
          <p:cNvPr id="16" name="Down Arrow 15"/>
          <p:cNvSpPr/>
          <p:nvPr/>
        </p:nvSpPr>
        <p:spPr>
          <a:xfrm>
            <a:off x="5912967" y="4173405"/>
            <a:ext cx="182880" cy="137160"/>
          </a:xfrm>
          <a:prstGeom prst="downArrow">
            <a:avLst/>
          </a:prstGeom>
          <a:solidFill>
            <a:srgbClr val="2C6F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1371600" y="4334256"/>
            <a:ext cx="9144000" cy="502920"/>
          </a:xfrm>
          <a:prstGeom prst="roundRect">
            <a:avLst>
              <a:gd name="adj" fmla="val 10000"/>
            </a:avLst>
          </a:prstGeom>
          <a:solidFill>
            <a:srgbClr val="E0F2F1"/>
          </a:solidFill>
          <a:ln w="19050">
            <a:solidFill>
              <a:srgbClr val="2C6FB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defRPr sz="1100" b="0">
                <a:solidFill>
                  <a:srgbClr val="1A1A2E"/>
                </a:solidFill>
                <a:latin typeface="Calibri"/>
              </a:defRPr>
            </a:pPr>
            <a:r>
              <a:rPr dirty="0"/>
              <a:t>STEP 2: Find unvisited node with smallest distance</a:t>
            </a:r>
            <a:br>
              <a:rPr dirty="0"/>
            </a:br>
            <a:r>
              <a:rPr dirty="0" err="1"/>
              <a:t>minDistance</a:t>
            </a:r>
            <a:r>
              <a:rPr dirty="0"/>
              <a:t>() scans for minimum </a:t>
            </a:r>
            <a:r>
              <a:rPr dirty="0" err="1"/>
              <a:t>dist</a:t>
            </a:r>
            <a:r>
              <a:rPr dirty="0"/>
              <a:t>[] value among unvisited nodes</a:t>
            </a:r>
          </a:p>
        </p:txBody>
      </p:sp>
      <p:sp>
        <p:nvSpPr>
          <p:cNvPr id="18" name="Down Arrow 17"/>
          <p:cNvSpPr/>
          <p:nvPr/>
        </p:nvSpPr>
        <p:spPr>
          <a:xfrm>
            <a:off x="5923358" y="4859620"/>
            <a:ext cx="182880" cy="137160"/>
          </a:xfrm>
          <a:prstGeom prst="downArrow">
            <a:avLst/>
          </a:prstGeom>
          <a:solidFill>
            <a:srgbClr val="2C6F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1371600" y="5093208"/>
            <a:ext cx="9144000" cy="502920"/>
          </a:xfrm>
          <a:prstGeom prst="roundRect">
            <a:avLst>
              <a:gd name="adj" fmla="val 10000"/>
            </a:avLst>
          </a:prstGeom>
          <a:solidFill>
            <a:srgbClr val="FDF2E3"/>
          </a:solidFill>
          <a:ln w="19050">
            <a:solidFill>
              <a:srgbClr val="2C6FB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defRPr sz="1100" b="0">
                <a:solidFill>
                  <a:srgbClr val="1A1A2E"/>
                </a:solidFill>
                <a:latin typeface="Calibri"/>
              </a:defRPr>
            </a:pPr>
            <a:r>
              <a:rPr dirty="0"/>
              <a:t>STEP 3: Relax all neighboring edges of selected node</a:t>
            </a:r>
            <a:br>
              <a:rPr dirty="0"/>
            </a:br>
            <a:r>
              <a:rPr dirty="0"/>
              <a:t>if(</a:t>
            </a:r>
            <a:r>
              <a:rPr dirty="0" err="1"/>
              <a:t>dist</a:t>
            </a:r>
            <a:r>
              <a:rPr dirty="0"/>
              <a:t>[u] + </a:t>
            </a:r>
            <a:r>
              <a:rPr dirty="0" err="1"/>
              <a:t>edge_weight</a:t>
            </a:r>
            <a:r>
              <a:rPr dirty="0"/>
              <a:t> &lt; </a:t>
            </a:r>
            <a:r>
              <a:rPr dirty="0" err="1"/>
              <a:t>dist</a:t>
            </a:r>
            <a:r>
              <a:rPr dirty="0"/>
              <a:t>[v]) → update </a:t>
            </a:r>
            <a:r>
              <a:rPr dirty="0" err="1"/>
              <a:t>dist</a:t>
            </a:r>
            <a:r>
              <a:rPr dirty="0"/>
              <a:t>[v] with shorter path</a:t>
            </a:r>
          </a:p>
        </p:txBody>
      </p:sp>
      <p:sp>
        <p:nvSpPr>
          <p:cNvPr id="20" name="Down Arrow 19"/>
          <p:cNvSpPr/>
          <p:nvPr/>
        </p:nvSpPr>
        <p:spPr>
          <a:xfrm>
            <a:off x="5979969" y="5639770"/>
            <a:ext cx="182880" cy="137160"/>
          </a:xfrm>
          <a:prstGeom prst="downArrow">
            <a:avLst/>
          </a:prstGeom>
          <a:solidFill>
            <a:srgbClr val="2C6F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1371600" y="5815584"/>
            <a:ext cx="9144000" cy="502920"/>
          </a:xfrm>
          <a:prstGeom prst="roundRect">
            <a:avLst>
              <a:gd name="adj" fmla="val 10000"/>
            </a:avLst>
          </a:prstGeom>
          <a:solidFill>
            <a:srgbClr val="C8E6C9"/>
          </a:solidFill>
          <a:ln w="19050">
            <a:solidFill>
              <a:srgbClr val="2C6FB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defRPr sz="1100" b="0">
                <a:solidFill>
                  <a:srgbClr val="1A1A2E"/>
                </a:solidFill>
                <a:latin typeface="Calibri"/>
              </a:defRPr>
            </a:pPr>
            <a:r>
              <a:t>STEP 4: Repeat until all nodes visited</a:t>
            </a:r>
            <a:br/>
            <a:r>
              <a:t>Output — Emergency distances: Location 0:0, 1:3, 2:2, 3:8, 4:10 (shortest routes from HQ)</a:t>
            </a:r>
          </a:p>
        </p:txBody>
      </p:sp>
      <p:sp>
        <p:nvSpPr>
          <p:cNvPr id="23" name="TextBox 22"/>
          <p:cNvSpPr txBox="1"/>
          <p:nvPr/>
        </p:nvSpPr>
        <p:spPr>
          <a:xfrm>
            <a:off x="457200" y="6492240"/>
            <a:ext cx="10972800" cy="182880"/>
          </a:xfrm>
          <a:prstGeom prst="rect">
            <a:avLst/>
          </a:prstGeom>
          <a:noFill/>
        </p:spPr>
        <p:txBody>
          <a:bodyPr wrap="square">
            <a:spAutoFit/>
          </a:bodyPr>
          <a:lstStyle/>
          <a:p>
            <a:pPr algn="ctr">
              <a:defRPr sz="800" b="0">
                <a:solidFill>
                  <a:srgbClr val="55556E"/>
                </a:solidFill>
                <a:latin typeface="Calibri"/>
              </a:defRPr>
            </a:pPr>
            <a:r>
              <a:t>UrbanAI | Smart City Infrastructure Optimization Platform  —  Part 1 of 2</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0F4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2C6F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74320"/>
            <a:ext cx="10972800" cy="553998"/>
          </a:xfrm>
          <a:prstGeom prst="rect">
            <a:avLst/>
          </a:prstGeom>
          <a:noFill/>
        </p:spPr>
        <p:txBody>
          <a:bodyPr wrap="square">
            <a:spAutoFit/>
          </a:bodyPr>
          <a:lstStyle/>
          <a:p>
            <a:pPr algn="l">
              <a:defRPr sz="3000" b="1">
                <a:solidFill>
                  <a:srgbClr val="2C6FBB"/>
                </a:solidFill>
                <a:latin typeface="Calibri"/>
              </a:defRPr>
            </a:pPr>
            <a:r>
              <a:rPr dirty="0"/>
              <a:t>Module 4b: Shortest Path Optimization — Floyd-Warshall </a:t>
            </a:r>
          </a:p>
        </p:txBody>
      </p:sp>
      <p:sp>
        <p:nvSpPr>
          <p:cNvPr id="4" name="TextBox 3"/>
          <p:cNvSpPr txBox="1"/>
          <p:nvPr/>
        </p:nvSpPr>
        <p:spPr>
          <a:xfrm>
            <a:off x="548640" y="777240"/>
            <a:ext cx="10972800" cy="365760"/>
          </a:xfrm>
          <a:prstGeom prst="rect">
            <a:avLst/>
          </a:prstGeom>
          <a:noFill/>
        </p:spPr>
        <p:txBody>
          <a:bodyPr wrap="square">
            <a:spAutoFit/>
          </a:bodyPr>
          <a:lstStyle/>
          <a:p>
            <a:pPr algn="l">
              <a:defRPr sz="1600" b="0">
                <a:solidFill>
                  <a:srgbClr val="55556E"/>
                </a:solidFill>
                <a:latin typeface="Calibri"/>
              </a:defRPr>
            </a:pPr>
            <a:r>
              <a:t>City Distance Matrix for All-Pairs Urban Planning</a:t>
            </a:r>
          </a:p>
        </p:txBody>
      </p:sp>
      <p:sp>
        <p:nvSpPr>
          <p:cNvPr id="5" name="Rectangle 4"/>
          <p:cNvSpPr/>
          <p:nvPr/>
        </p:nvSpPr>
        <p:spPr>
          <a:xfrm>
            <a:off x="548640" y="1097280"/>
            <a:ext cx="10972800" cy="27432"/>
          </a:xfrm>
          <a:prstGeom prst="rect">
            <a:avLst/>
          </a:prstGeom>
          <a:solidFill>
            <a:srgbClr val="2C6F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365760" y="1097280"/>
            <a:ext cx="4572000" cy="1554480"/>
          </a:xfrm>
          <a:prstGeom prst="roundRect">
            <a:avLst>
              <a:gd name="adj" fmla="val 10000"/>
            </a:avLst>
          </a:prstGeom>
          <a:solidFill>
            <a:srgbClr val="E3F2FD"/>
          </a:solidFill>
          <a:ln w="19050">
            <a:solidFill>
              <a:srgbClr val="2C6FB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8640" y="1115568"/>
            <a:ext cx="4206240" cy="228600"/>
          </a:xfrm>
          <a:prstGeom prst="rect">
            <a:avLst/>
          </a:prstGeom>
          <a:noFill/>
        </p:spPr>
        <p:txBody>
          <a:bodyPr wrap="square">
            <a:spAutoFit/>
          </a:bodyPr>
          <a:lstStyle/>
          <a:p>
            <a:pPr algn="ctr">
              <a:defRPr sz="1200" b="1">
                <a:solidFill>
                  <a:srgbClr val="2C6FBB"/>
                </a:solidFill>
                <a:latin typeface="Calibri"/>
              </a:defRPr>
            </a:pPr>
            <a:r>
              <a:t>📋 Techniques</a:t>
            </a:r>
          </a:p>
        </p:txBody>
      </p:sp>
      <p:sp>
        <p:nvSpPr>
          <p:cNvPr id="8" name="TextBox 7"/>
          <p:cNvSpPr txBox="1"/>
          <p:nvPr/>
        </p:nvSpPr>
        <p:spPr>
          <a:xfrm>
            <a:off x="548640" y="1371600"/>
            <a:ext cx="4206240" cy="1188720"/>
          </a:xfrm>
          <a:prstGeom prst="rect">
            <a:avLst/>
          </a:prstGeom>
          <a:noFill/>
        </p:spPr>
        <p:txBody>
          <a:bodyPr wrap="square">
            <a:spAutoFit/>
          </a:bodyPr>
          <a:lstStyle/>
          <a:p>
            <a:pPr algn="l">
              <a:spcAft>
                <a:spcPts val="600"/>
              </a:spcAft>
              <a:defRPr sz="1000" b="0">
                <a:solidFill>
                  <a:srgbClr val="1A1A2E"/>
                </a:solidFill>
                <a:latin typeface="Calibri"/>
              </a:defRPr>
            </a:pPr>
            <a:r>
              <a:t>3. Floyd-Warshall — All-pairs shortest path (V³ dynamic prog)</a:t>
            </a:r>
          </a:p>
        </p:txBody>
      </p:sp>
      <p:sp>
        <p:nvSpPr>
          <p:cNvPr id="9" name="Rounded Rectangle 8"/>
          <p:cNvSpPr/>
          <p:nvPr/>
        </p:nvSpPr>
        <p:spPr>
          <a:xfrm>
            <a:off x="5212080" y="1097280"/>
            <a:ext cx="6583680" cy="1554480"/>
          </a:xfrm>
          <a:prstGeom prst="roundRect">
            <a:avLst>
              <a:gd name="adj" fmla="val 10000"/>
            </a:avLst>
          </a:prstGeom>
          <a:solidFill>
            <a:srgbClr val="FDF2E3"/>
          </a:solidFill>
          <a:ln w="19050">
            <a:solidFill>
              <a:srgbClr val="E67E2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394960" y="1115568"/>
            <a:ext cx="6217920" cy="228600"/>
          </a:xfrm>
          <a:prstGeom prst="rect">
            <a:avLst/>
          </a:prstGeom>
          <a:noFill/>
        </p:spPr>
        <p:txBody>
          <a:bodyPr wrap="square">
            <a:spAutoFit/>
          </a:bodyPr>
          <a:lstStyle/>
          <a:p>
            <a:pPr algn="ctr">
              <a:defRPr sz="1200" b="1">
                <a:solidFill>
                  <a:srgbClr val="E67E22"/>
                </a:solidFill>
                <a:latin typeface="Calibri"/>
              </a:defRPr>
            </a:pPr>
            <a:r>
              <a:t>❓ Why?</a:t>
            </a:r>
          </a:p>
        </p:txBody>
      </p:sp>
      <p:sp>
        <p:nvSpPr>
          <p:cNvPr id="11" name="TextBox 10"/>
          <p:cNvSpPr txBox="1"/>
          <p:nvPr/>
        </p:nvSpPr>
        <p:spPr>
          <a:xfrm>
            <a:off x="5394960" y="1371600"/>
            <a:ext cx="6217920" cy="1188720"/>
          </a:xfrm>
          <a:prstGeom prst="rect">
            <a:avLst/>
          </a:prstGeom>
          <a:noFill/>
        </p:spPr>
        <p:txBody>
          <a:bodyPr wrap="square">
            <a:spAutoFit/>
          </a:bodyPr>
          <a:lstStyle/>
          <a:p>
            <a:pPr algn="l">
              <a:spcAft>
                <a:spcPts val="600"/>
              </a:spcAft>
              <a:defRPr sz="1000" b="0">
                <a:solidFill>
                  <a:srgbClr val="1A1A2E"/>
                </a:solidFill>
                <a:latin typeface="Calibri"/>
              </a:defRPr>
            </a:pPr>
            <a:r>
              <a:t>• Floyd-Warshall: complete city distance reference table</a:t>
            </a:r>
          </a:p>
          <a:p>
            <a:pPr algn="l">
              <a:spcAft>
                <a:spcPts val="600"/>
              </a:spcAft>
              <a:defRPr sz="1000" b="0">
                <a:solidFill>
                  <a:srgbClr val="1A1A2E"/>
                </a:solidFill>
                <a:latin typeface="Calibri"/>
              </a:defRPr>
            </a:pPr>
            <a:r>
              <a:t>• One matrix shows shortest path between EVERY pair of locations</a:t>
            </a:r>
          </a:p>
        </p:txBody>
      </p:sp>
      <p:sp>
        <p:nvSpPr>
          <p:cNvPr id="12" name="TextBox 11"/>
          <p:cNvSpPr txBox="1"/>
          <p:nvPr/>
        </p:nvSpPr>
        <p:spPr>
          <a:xfrm>
            <a:off x="365760" y="2788920"/>
            <a:ext cx="5486400" cy="228600"/>
          </a:xfrm>
          <a:prstGeom prst="rect">
            <a:avLst/>
          </a:prstGeom>
          <a:noFill/>
        </p:spPr>
        <p:txBody>
          <a:bodyPr wrap="square">
            <a:spAutoFit/>
          </a:bodyPr>
          <a:lstStyle/>
          <a:p>
            <a:pPr algn="ctr">
              <a:defRPr sz="1200" b="1">
                <a:solidFill>
                  <a:srgbClr val="27AE60"/>
                </a:solidFill>
                <a:latin typeface="Calibri"/>
              </a:defRPr>
            </a:pPr>
            <a:r>
              <a:t>📊 Step-by-Step Flow — Floyd-Warshall All-Pairs Shortest Path</a:t>
            </a:r>
          </a:p>
        </p:txBody>
      </p:sp>
      <p:sp>
        <p:nvSpPr>
          <p:cNvPr id="13" name="Rounded Rectangle 12"/>
          <p:cNvSpPr/>
          <p:nvPr/>
        </p:nvSpPr>
        <p:spPr>
          <a:xfrm>
            <a:off x="1371600" y="3063240"/>
            <a:ext cx="9144000" cy="292608"/>
          </a:xfrm>
          <a:prstGeom prst="roundRect">
            <a:avLst>
              <a:gd name="adj" fmla="val 10000"/>
            </a:avLst>
          </a:prstGeom>
          <a:solidFill>
            <a:srgbClr val="27AE60"/>
          </a:solidFill>
          <a:ln w="1905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371600" y="3063240"/>
            <a:ext cx="9144000" cy="292608"/>
          </a:xfrm>
          <a:prstGeom prst="rect">
            <a:avLst/>
          </a:prstGeom>
          <a:noFill/>
        </p:spPr>
        <p:txBody>
          <a:bodyPr wrap="square">
            <a:spAutoFit/>
          </a:bodyPr>
          <a:lstStyle/>
          <a:p>
            <a:pPr algn="ctr">
              <a:defRPr sz="1300" b="1">
                <a:solidFill>
                  <a:srgbClr val="FFFFFF"/>
                </a:solidFill>
                <a:latin typeface="Calibri"/>
              </a:defRPr>
            </a:pPr>
            <a:r>
              <a:t>▶ FLOYD-WARSHALL: Generate City Distance Matrix (All-Pairs)</a:t>
            </a:r>
          </a:p>
        </p:txBody>
      </p:sp>
      <p:sp>
        <p:nvSpPr>
          <p:cNvPr id="15" name="Rounded Rectangle 14"/>
          <p:cNvSpPr/>
          <p:nvPr/>
        </p:nvSpPr>
        <p:spPr>
          <a:xfrm>
            <a:off x="1371600" y="3429000"/>
            <a:ext cx="9144000" cy="502920"/>
          </a:xfrm>
          <a:prstGeom prst="roundRect">
            <a:avLst>
              <a:gd name="adj" fmla="val 10000"/>
            </a:avLst>
          </a:prstGeom>
          <a:solidFill>
            <a:srgbClr val="E3F2FD"/>
          </a:solidFill>
          <a:ln w="19050">
            <a:solidFill>
              <a:srgbClr val="2C6FB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defRPr sz="1100" b="0">
                <a:solidFill>
                  <a:srgbClr val="1A1A2E"/>
                </a:solidFill>
                <a:latin typeface="Calibri"/>
              </a:defRPr>
            </a:pPr>
            <a:r>
              <a:t>STEP 1: Create 4×4 adjacency matrix graph[4][4] for 4 city zones</a:t>
            </a:r>
            <a:br/>
            <a:r>
              <a:t>Set INF where no direct edge exists, 0 on diagonal (distance to self)</a:t>
            </a:r>
          </a:p>
        </p:txBody>
      </p:sp>
      <p:sp>
        <p:nvSpPr>
          <p:cNvPr id="16" name="Down Arrow 15"/>
          <p:cNvSpPr/>
          <p:nvPr/>
        </p:nvSpPr>
        <p:spPr>
          <a:xfrm>
            <a:off x="5852160" y="3950208"/>
            <a:ext cx="182880" cy="137160"/>
          </a:xfrm>
          <a:prstGeom prst="downArrow">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1371600" y="4160520"/>
            <a:ext cx="9144000" cy="502920"/>
          </a:xfrm>
          <a:prstGeom prst="roundRect">
            <a:avLst>
              <a:gd name="adj" fmla="val 10000"/>
            </a:avLst>
          </a:prstGeom>
          <a:solidFill>
            <a:srgbClr val="E0F2F1"/>
          </a:solidFill>
          <a:ln w="19050">
            <a:solidFill>
              <a:srgbClr val="2C6FB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defRPr sz="1100" b="0">
                <a:solidFill>
                  <a:srgbClr val="1A1A2E"/>
                </a:solidFill>
                <a:latin typeface="Calibri"/>
              </a:defRPr>
            </a:pPr>
            <a:r>
              <a:t>STEP 2: Copy graph → dist[][] matrix</a:t>
            </a:r>
            <a:br/>
            <a:r>
              <a:t>Initialize dist[i][j] = graph[i][j] for all i,j — this is our starting distance table</a:t>
            </a:r>
          </a:p>
        </p:txBody>
      </p:sp>
      <p:sp>
        <p:nvSpPr>
          <p:cNvPr id="18" name="Down Arrow 17"/>
          <p:cNvSpPr/>
          <p:nvPr/>
        </p:nvSpPr>
        <p:spPr>
          <a:xfrm>
            <a:off x="5852160" y="4681728"/>
            <a:ext cx="182880" cy="137160"/>
          </a:xfrm>
          <a:prstGeom prst="downArrow">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1371600" y="4892040"/>
            <a:ext cx="9144000" cy="502920"/>
          </a:xfrm>
          <a:prstGeom prst="roundRect">
            <a:avLst>
              <a:gd name="adj" fmla="val 10000"/>
            </a:avLst>
          </a:prstGeom>
          <a:solidFill>
            <a:srgbClr val="FDF2E3"/>
          </a:solidFill>
          <a:ln w="19050">
            <a:solidFill>
              <a:srgbClr val="2C6FB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defRPr sz="1100" b="0">
                <a:solidFill>
                  <a:srgbClr val="1A1A2E"/>
                </a:solidFill>
                <a:latin typeface="Calibri"/>
              </a:defRPr>
            </a:pPr>
            <a:r>
              <a:t>STEP 3: Triple nested loop — for k in 0..3: for i in 0..3: for j in 0..3:</a:t>
            </a:r>
            <a:br/>
            <a:r>
              <a:t>    if(dist[i][k]+dist[k][j] &lt; dist[i][j]) → update with shorter path via k</a:t>
            </a:r>
          </a:p>
        </p:txBody>
      </p:sp>
      <p:sp>
        <p:nvSpPr>
          <p:cNvPr id="20" name="Down Arrow 19"/>
          <p:cNvSpPr/>
          <p:nvPr/>
        </p:nvSpPr>
        <p:spPr>
          <a:xfrm>
            <a:off x="5852160" y="5413248"/>
            <a:ext cx="182880" cy="137160"/>
          </a:xfrm>
          <a:prstGeom prst="downArrow">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1371600" y="5623560"/>
            <a:ext cx="9144000" cy="502920"/>
          </a:xfrm>
          <a:prstGeom prst="roundRect">
            <a:avLst>
              <a:gd name="adj" fmla="val 10000"/>
            </a:avLst>
          </a:prstGeom>
          <a:solidFill>
            <a:srgbClr val="C8E6C9"/>
          </a:solidFill>
          <a:ln w="19050">
            <a:solidFill>
              <a:srgbClr val="2C6FB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defRPr sz="1100" b="0">
                <a:solidFill>
                  <a:srgbClr val="1A1A2E"/>
                </a:solidFill>
                <a:latin typeface="Calibri"/>
              </a:defRPr>
            </a:pPr>
            <a:r>
              <a:t>STEP 4: Output all-pairs shortest distance matrix</a:t>
            </a:r>
            <a:br/>
            <a:r>
              <a:t>0  5  8  9  |  INF 0  3  4  |  INF INF 0  1  |  INF INF INF 0</a:t>
            </a:r>
          </a:p>
        </p:txBody>
      </p:sp>
      <p:sp>
        <p:nvSpPr>
          <p:cNvPr id="23" name="TextBox 22"/>
          <p:cNvSpPr txBox="1"/>
          <p:nvPr/>
        </p:nvSpPr>
        <p:spPr>
          <a:xfrm>
            <a:off x="457200" y="6492240"/>
            <a:ext cx="10972800" cy="182880"/>
          </a:xfrm>
          <a:prstGeom prst="rect">
            <a:avLst/>
          </a:prstGeom>
          <a:noFill/>
        </p:spPr>
        <p:txBody>
          <a:bodyPr wrap="square">
            <a:spAutoFit/>
          </a:bodyPr>
          <a:lstStyle/>
          <a:p>
            <a:pPr algn="ctr">
              <a:defRPr sz="800" b="0">
                <a:solidFill>
                  <a:srgbClr val="55556E"/>
                </a:solidFill>
                <a:latin typeface="Calibri"/>
              </a:defRPr>
            </a:pPr>
            <a:r>
              <a:t>UrbanAI | Smart City Infrastructure Optimization Platform  —  Part 2 of 2</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0F4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2C6F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74320"/>
            <a:ext cx="10972800" cy="461665"/>
          </a:xfrm>
          <a:prstGeom prst="rect">
            <a:avLst/>
          </a:prstGeom>
          <a:noFill/>
        </p:spPr>
        <p:txBody>
          <a:bodyPr wrap="square">
            <a:spAutoFit/>
          </a:bodyPr>
          <a:lstStyle/>
          <a:p>
            <a:pPr algn="l">
              <a:defRPr sz="3000" b="1">
                <a:solidFill>
                  <a:srgbClr val="2C6FBB"/>
                </a:solidFill>
                <a:latin typeface="Calibri"/>
              </a:defRPr>
            </a:pPr>
            <a:r>
              <a:rPr sz="2400" dirty="0"/>
              <a:t>Module 6a: Greedy Algorithms — Activity Selection &amp; Fractional Knapsack </a:t>
            </a:r>
          </a:p>
        </p:txBody>
      </p:sp>
      <p:sp>
        <p:nvSpPr>
          <p:cNvPr id="5" name="Rectangle 4"/>
          <p:cNvSpPr/>
          <p:nvPr/>
        </p:nvSpPr>
        <p:spPr>
          <a:xfrm>
            <a:off x="548640" y="1097280"/>
            <a:ext cx="10972800" cy="27432"/>
          </a:xfrm>
          <a:prstGeom prst="rect">
            <a:avLst/>
          </a:prstGeom>
          <a:solidFill>
            <a:srgbClr val="2C6F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365760" y="1097280"/>
            <a:ext cx="4572000" cy="1554480"/>
          </a:xfrm>
          <a:prstGeom prst="roundRect">
            <a:avLst>
              <a:gd name="adj" fmla="val 10000"/>
            </a:avLst>
          </a:prstGeom>
          <a:solidFill>
            <a:srgbClr val="E3F2FD"/>
          </a:solidFill>
          <a:ln w="19050">
            <a:solidFill>
              <a:srgbClr val="2C6FB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8640" y="1115568"/>
            <a:ext cx="4206240" cy="228600"/>
          </a:xfrm>
          <a:prstGeom prst="rect">
            <a:avLst/>
          </a:prstGeom>
          <a:noFill/>
        </p:spPr>
        <p:txBody>
          <a:bodyPr wrap="square">
            <a:spAutoFit/>
          </a:bodyPr>
          <a:lstStyle/>
          <a:p>
            <a:pPr algn="ctr">
              <a:defRPr sz="1200" b="1">
                <a:solidFill>
                  <a:srgbClr val="2C6FBB"/>
                </a:solidFill>
                <a:latin typeface="Calibri"/>
              </a:defRPr>
            </a:pPr>
            <a:r>
              <a:t>📋 Techniques</a:t>
            </a:r>
          </a:p>
        </p:txBody>
      </p:sp>
      <p:sp>
        <p:nvSpPr>
          <p:cNvPr id="8" name="TextBox 7"/>
          <p:cNvSpPr txBox="1"/>
          <p:nvPr/>
        </p:nvSpPr>
        <p:spPr>
          <a:xfrm>
            <a:off x="548640" y="1371600"/>
            <a:ext cx="4206240" cy="1188720"/>
          </a:xfrm>
          <a:prstGeom prst="rect">
            <a:avLst/>
          </a:prstGeom>
          <a:noFill/>
        </p:spPr>
        <p:txBody>
          <a:bodyPr wrap="square">
            <a:spAutoFit/>
          </a:bodyPr>
          <a:lstStyle/>
          <a:p>
            <a:pPr algn="l">
              <a:spcAft>
                <a:spcPts val="600"/>
              </a:spcAft>
              <a:defRPr sz="1000" b="0">
                <a:solidFill>
                  <a:srgbClr val="1A1A2E"/>
                </a:solidFill>
                <a:latin typeface="Calibri"/>
              </a:defRPr>
            </a:pPr>
            <a:r>
              <a:t>1. Activity Selection (Greedy) — Max maintenance tasks</a:t>
            </a:r>
          </a:p>
          <a:p>
            <a:pPr algn="l">
              <a:spcAft>
                <a:spcPts val="600"/>
              </a:spcAft>
              <a:defRPr sz="1000" b="0">
                <a:solidFill>
                  <a:srgbClr val="1A1A2E"/>
                </a:solidFill>
                <a:latin typeface="Calibri"/>
              </a:defRPr>
            </a:pPr>
            <a:r>
              <a:t>2. Fractional Knapsack (Greedy) — Partial resource allocation</a:t>
            </a:r>
          </a:p>
          <a:p>
            <a:pPr algn="l">
              <a:spcAft>
                <a:spcPts val="600"/>
              </a:spcAft>
              <a:defRPr sz="1000" b="0">
                <a:solidFill>
                  <a:srgbClr val="1A1A2E"/>
                </a:solidFill>
                <a:latin typeface="Calibri"/>
              </a:defRPr>
            </a:pPr>
            <a:r>
              <a:t>3. 0/1 Knapsack + Edit Distance → next slide</a:t>
            </a:r>
          </a:p>
        </p:txBody>
      </p:sp>
      <p:sp>
        <p:nvSpPr>
          <p:cNvPr id="9" name="Rounded Rectangle 8"/>
          <p:cNvSpPr/>
          <p:nvPr/>
        </p:nvSpPr>
        <p:spPr>
          <a:xfrm>
            <a:off x="5212080" y="1097280"/>
            <a:ext cx="6583680" cy="1554480"/>
          </a:xfrm>
          <a:prstGeom prst="roundRect">
            <a:avLst>
              <a:gd name="adj" fmla="val 10000"/>
            </a:avLst>
          </a:prstGeom>
          <a:solidFill>
            <a:srgbClr val="FDF2E3"/>
          </a:solidFill>
          <a:ln w="19050">
            <a:solidFill>
              <a:srgbClr val="E67E2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394960" y="1115568"/>
            <a:ext cx="6217920" cy="228600"/>
          </a:xfrm>
          <a:prstGeom prst="rect">
            <a:avLst/>
          </a:prstGeom>
          <a:noFill/>
        </p:spPr>
        <p:txBody>
          <a:bodyPr wrap="square">
            <a:spAutoFit/>
          </a:bodyPr>
          <a:lstStyle/>
          <a:p>
            <a:pPr algn="ctr">
              <a:defRPr sz="1200" b="1">
                <a:solidFill>
                  <a:srgbClr val="E67E22"/>
                </a:solidFill>
                <a:latin typeface="Calibri"/>
              </a:defRPr>
            </a:pPr>
            <a:r>
              <a:t>❓ Why Greedy?</a:t>
            </a:r>
          </a:p>
        </p:txBody>
      </p:sp>
      <p:sp>
        <p:nvSpPr>
          <p:cNvPr id="11" name="TextBox 10"/>
          <p:cNvSpPr txBox="1"/>
          <p:nvPr/>
        </p:nvSpPr>
        <p:spPr>
          <a:xfrm>
            <a:off x="5394960" y="1371600"/>
            <a:ext cx="6217920" cy="1188720"/>
          </a:xfrm>
          <a:prstGeom prst="rect">
            <a:avLst/>
          </a:prstGeom>
          <a:noFill/>
        </p:spPr>
        <p:txBody>
          <a:bodyPr wrap="square">
            <a:spAutoFit/>
          </a:bodyPr>
          <a:lstStyle/>
          <a:p>
            <a:pPr algn="l">
              <a:spcAft>
                <a:spcPts val="600"/>
              </a:spcAft>
              <a:defRPr sz="1000" b="0">
                <a:solidFill>
                  <a:srgbClr val="1A1A2E"/>
                </a:solidFill>
                <a:latin typeface="Calibri"/>
              </a:defRPr>
            </a:pPr>
            <a:r>
              <a:t>• Activity Selection: earliest finish → max tasks scheduled</a:t>
            </a:r>
          </a:p>
          <a:p>
            <a:pPr algn="l">
              <a:spcAft>
                <a:spcPts val="600"/>
              </a:spcAft>
              <a:defRPr sz="1000" b="0">
                <a:solidFill>
                  <a:srgbClr val="1A1A2E"/>
                </a:solidFill>
                <a:latin typeface="Calibri"/>
              </a:defRPr>
            </a:pPr>
            <a:r>
              <a:t>• Fractional Knapsack: divisible resources → optimal greedy</a:t>
            </a:r>
          </a:p>
        </p:txBody>
      </p:sp>
      <p:sp>
        <p:nvSpPr>
          <p:cNvPr id="12" name="TextBox 11"/>
          <p:cNvSpPr txBox="1"/>
          <p:nvPr/>
        </p:nvSpPr>
        <p:spPr>
          <a:xfrm>
            <a:off x="365760" y="2788920"/>
            <a:ext cx="5486400" cy="228600"/>
          </a:xfrm>
          <a:prstGeom prst="rect">
            <a:avLst/>
          </a:prstGeom>
          <a:noFill/>
        </p:spPr>
        <p:txBody>
          <a:bodyPr wrap="square">
            <a:spAutoFit/>
          </a:bodyPr>
          <a:lstStyle/>
          <a:p>
            <a:pPr algn="ctr">
              <a:defRPr sz="1200" b="1">
                <a:solidFill>
                  <a:srgbClr val="C0392B"/>
                </a:solidFill>
                <a:latin typeface="Calibri"/>
              </a:defRPr>
            </a:pPr>
            <a:r>
              <a:t>📊 Step-by-Step — Activity Selection (Left) + Fractional Knapsack (Right)</a:t>
            </a:r>
          </a:p>
        </p:txBody>
      </p:sp>
      <p:sp>
        <p:nvSpPr>
          <p:cNvPr id="13" name="Rounded Rectangle 12"/>
          <p:cNvSpPr/>
          <p:nvPr/>
        </p:nvSpPr>
        <p:spPr>
          <a:xfrm>
            <a:off x="274320" y="3063240"/>
            <a:ext cx="5303520" cy="292608"/>
          </a:xfrm>
          <a:prstGeom prst="roundRect">
            <a:avLst>
              <a:gd name="adj" fmla="val 10000"/>
            </a:avLst>
          </a:prstGeom>
          <a:solidFill>
            <a:srgbClr val="2C6FBB"/>
          </a:solidFill>
          <a:ln w="19050">
            <a:solidFill>
              <a:srgbClr val="2C6FB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74320" y="3063240"/>
            <a:ext cx="5303520" cy="292608"/>
          </a:xfrm>
          <a:prstGeom prst="rect">
            <a:avLst/>
          </a:prstGeom>
          <a:noFill/>
        </p:spPr>
        <p:txBody>
          <a:bodyPr wrap="square">
            <a:spAutoFit/>
          </a:bodyPr>
          <a:lstStyle/>
          <a:p>
            <a:pPr algn="ctr">
              <a:defRPr sz="1100" b="1">
                <a:solidFill>
                  <a:srgbClr val="FFFFFF"/>
                </a:solidFill>
                <a:latin typeface="Calibri"/>
              </a:defRPr>
            </a:pPr>
            <a:r>
              <a:t>▶ ACTIVITY SELECTION: Schedule Max Maintenance Tasks (Greedy)</a:t>
            </a:r>
          </a:p>
        </p:txBody>
      </p:sp>
      <p:sp>
        <p:nvSpPr>
          <p:cNvPr id="15" name="Rounded Rectangle 14"/>
          <p:cNvSpPr/>
          <p:nvPr/>
        </p:nvSpPr>
        <p:spPr>
          <a:xfrm>
            <a:off x="274320" y="3429000"/>
            <a:ext cx="5303520" cy="411480"/>
          </a:xfrm>
          <a:prstGeom prst="roundRect">
            <a:avLst>
              <a:gd name="adj" fmla="val 10000"/>
            </a:avLst>
          </a:prstGeom>
          <a:solidFill>
            <a:srgbClr val="E3F2FD"/>
          </a:solidFill>
          <a:ln w="19050">
            <a:solidFill>
              <a:srgbClr val="2C6FB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defRPr sz="1000" b="0">
                <a:solidFill>
                  <a:srgbClr val="1A1A2E"/>
                </a:solidFill>
                <a:latin typeface="Calibri"/>
              </a:defRPr>
            </a:pPr>
            <a:r>
              <a:t>STEP 1: Input 4 maintenance tasks (start, finish)</a:t>
            </a:r>
            <a:br/>
            <a:r>
              <a:t>RoadRepair(8,10), PaintBridge(9,11), CleanPark(10,12), InspectDrain(11,13)</a:t>
            </a:r>
          </a:p>
        </p:txBody>
      </p:sp>
      <p:sp>
        <p:nvSpPr>
          <p:cNvPr id="16" name="Down Arrow 15"/>
          <p:cNvSpPr/>
          <p:nvPr/>
        </p:nvSpPr>
        <p:spPr>
          <a:xfrm>
            <a:off x="2834640" y="3858768"/>
            <a:ext cx="182880" cy="137160"/>
          </a:xfrm>
          <a:prstGeom prst="downArrow">
            <a:avLst/>
          </a:prstGeom>
          <a:solidFill>
            <a:srgbClr val="2C6F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274320" y="4087368"/>
            <a:ext cx="5303520" cy="411480"/>
          </a:xfrm>
          <a:prstGeom prst="roundRect">
            <a:avLst>
              <a:gd name="adj" fmla="val 10000"/>
            </a:avLst>
          </a:prstGeom>
          <a:solidFill>
            <a:srgbClr val="E0F2F1"/>
          </a:solidFill>
          <a:ln w="19050">
            <a:solidFill>
              <a:srgbClr val="2C6FB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defRPr sz="1000" b="0">
                <a:solidFill>
                  <a:srgbClr val="1A1A2E"/>
                </a:solidFill>
                <a:latin typeface="Calibri"/>
              </a:defRPr>
            </a:pPr>
            <a:r>
              <a:t>STEP 2: Create 3 parallel arrays (name, start, finish)</a:t>
            </a:r>
            <a:br/>
            <a:r>
              <a:t>Bubble sort by finish time (ascending) — earliest finish first</a:t>
            </a:r>
          </a:p>
        </p:txBody>
      </p:sp>
      <p:sp>
        <p:nvSpPr>
          <p:cNvPr id="18" name="Down Arrow 17"/>
          <p:cNvSpPr/>
          <p:nvPr/>
        </p:nvSpPr>
        <p:spPr>
          <a:xfrm>
            <a:off x="2834640" y="4517136"/>
            <a:ext cx="182880" cy="137160"/>
          </a:xfrm>
          <a:prstGeom prst="downArrow">
            <a:avLst/>
          </a:prstGeom>
          <a:solidFill>
            <a:srgbClr val="2C6F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274320" y="4745736"/>
            <a:ext cx="5303520" cy="411480"/>
          </a:xfrm>
          <a:prstGeom prst="roundRect">
            <a:avLst>
              <a:gd name="adj" fmla="val 10000"/>
            </a:avLst>
          </a:prstGeom>
          <a:solidFill>
            <a:srgbClr val="FDF2E3"/>
          </a:solidFill>
          <a:ln w="19050">
            <a:solidFill>
              <a:srgbClr val="2C6FB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defRPr sz="1000" b="0">
                <a:solidFill>
                  <a:srgbClr val="1A1A2E"/>
                </a:solidFill>
                <a:latin typeface="Calibri"/>
              </a:defRPr>
            </a:pPr>
            <a:r>
              <a:t>STEP 3: Select first task (earliest finish)</a:t>
            </a:r>
            <a:br/>
            <a:r>
              <a:t>For each next task: if start ≥ last_finish → select it (greedy pick)</a:t>
            </a:r>
          </a:p>
        </p:txBody>
      </p:sp>
      <p:sp>
        <p:nvSpPr>
          <p:cNvPr id="20" name="Down Arrow 19"/>
          <p:cNvSpPr/>
          <p:nvPr/>
        </p:nvSpPr>
        <p:spPr>
          <a:xfrm>
            <a:off x="2834640" y="5175504"/>
            <a:ext cx="182880" cy="137160"/>
          </a:xfrm>
          <a:prstGeom prst="downArrow">
            <a:avLst/>
          </a:prstGeom>
          <a:solidFill>
            <a:srgbClr val="2C6F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274320" y="5404104"/>
            <a:ext cx="5303520" cy="411480"/>
          </a:xfrm>
          <a:prstGeom prst="roundRect">
            <a:avLst>
              <a:gd name="adj" fmla="val 10000"/>
            </a:avLst>
          </a:prstGeom>
          <a:solidFill>
            <a:srgbClr val="C8E6C9"/>
          </a:solidFill>
          <a:ln w="19050">
            <a:solidFill>
              <a:srgbClr val="2C6FB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defRPr sz="1000" b="0">
                <a:solidFill>
                  <a:srgbClr val="1A1A2E"/>
                </a:solidFill>
                <a:latin typeface="Calibri"/>
              </a:defRPr>
            </a:pPr>
            <a:r>
              <a:t>STEP 4: Output: Max non-overlapping tasks scheduled</a:t>
            </a:r>
            <a:br/>
            <a:r>
              <a:t>RoadRepair(8-10) + CleanPark(10-12) = 2 / 4 tasks done ✅</a:t>
            </a:r>
          </a:p>
        </p:txBody>
      </p:sp>
      <p:sp>
        <p:nvSpPr>
          <p:cNvPr id="22" name="Rounded Rectangle 21"/>
          <p:cNvSpPr/>
          <p:nvPr/>
        </p:nvSpPr>
        <p:spPr>
          <a:xfrm>
            <a:off x="5943600" y="3063240"/>
            <a:ext cx="5760720" cy="292608"/>
          </a:xfrm>
          <a:prstGeom prst="roundRect">
            <a:avLst>
              <a:gd name="adj" fmla="val 10000"/>
            </a:avLst>
          </a:prstGeom>
          <a:solidFill>
            <a:srgbClr val="1AAB8E"/>
          </a:solidFill>
          <a:ln w="19050">
            <a:solidFill>
              <a:srgbClr val="1AAB8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943600" y="3063240"/>
            <a:ext cx="5760720" cy="292608"/>
          </a:xfrm>
          <a:prstGeom prst="rect">
            <a:avLst/>
          </a:prstGeom>
          <a:noFill/>
        </p:spPr>
        <p:txBody>
          <a:bodyPr wrap="square">
            <a:spAutoFit/>
          </a:bodyPr>
          <a:lstStyle/>
          <a:p>
            <a:pPr algn="ctr">
              <a:defRPr sz="1100" b="1">
                <a:solidFill>
                  <a:srgbClr val="FFFFFF"/>
                </a:solidFill>
                <a:latin typeface="Calibri"/>
              </a:defRPr>
            </a:pPr>
            <a:r>
              <a:t>▶ FRACTIONAL KNAPSACK: Allocate Resources Optimally (Greedy)</a:t>
            </a:r>
          </a:p>
        </p:txBody>
      </p:sp>
      <p:sp>
        <p:nvSpPr>
          <p:cNvPr id="24" name="Rounded Rectangle 23"/>
          <p:cNvSpPr/>
          <p:nvPr/>
        </p:nvSpPr>
        <p:spPr>
          <a:xfrm>
            <a:off x="5943600" y="3429000"/>
            <a:ext cx="5760720" cy="411480"/>
          </a:xfrm>
          <a:prstGeom prst="roundRect">
            <a:avLst>
              <a:gd name="adj" fmla="val 10000"/>
            </a:avLst>
          </a:prstGeom>
          <a:solidFill>
            <a:srgbClr val="E3F2FD"/>
          </a:solidFill>
          <a:ln w="19050">
            <a:solidFill>
              <a:srgbClr val="2C6FB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defRPr sz="1000" b="0">
                <a:solidFill>
                  <a:srgbClr val="1A1A2E"/>
                </a:solidFill>
                <a:latin typeface="Calibri"/>
              </a:defRPr>
            </a:pPr>
            <a:r>
              <a:t>STEP 1: Input resources (value, weight, capacity=20)</a:t>
            </a:r>
            <a:br/>
            <a:r>
              <a:t>Asphalt(50,10), Paint(30,5), Concrete(40,8), Steel(20,4)</a:t>
            </a:r>
          </a:p>
        </p:txBody>
      </p:sp>
      <p:sp>
        <p:nvSpPr>
          <p:cNvPr id="25" name="Down Arrow 24"/>
          <p:cNvSpPr/>
          <p:nvPr/>
        </p:nvSpPr>
        <p:spPr>
          <a:xfrm>
            <a:off x="8732520" y="3858768"/>
            <a:ext cx="182880" cy="137160"/>
          </a:xfrm>
          <a:prstGeom prst="downArrow">
            <a:avLst/>
          </a:prstGeom>
          <a:solidFill>
            <a:srgbClr val="1AAB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ounded Rectangle 25"/>
          <p:cNvSpPr/>
          <p:nvPr/>
        </p:nvSpPr>
        <p:spPr>
          <a:xfrm>
            <a:off x="5943600" y="4087368"/>
            <a:ext cx="5760720" cy="411480"/>
          </a:xfrm>
          <a:prstGeom prst="roundRect">
            <a:avLst>
              <a:gd name="adj" fmla="val 10000"/>
            </a:avLst>
          </a:prstGeom>
          <a:solidFill>
            <a:srgbClr val="E0F2F1"/>
          </a:solidFill>
          <a:ln w="19050">
            <a:solidFill>
              <a:srgbClr val="2C6FB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defRPr sz="1000" b="0">
                <a:solidFill>
                  <a:srgbClr val="1A1A2E"/>
                </a:solidFill>
                <a:latin typeface="Calibri"/>
              </a:defRPr>
            </a:pPr>
            <a:r>
              <a:t>STEP 2: Calculate value/weight ratio — sort descending</a:t>
            </a:r>
            <a:br/>
            <a:r>
              <a:t>Paint(6.0), Asphalt(5.0), Concrete(5.0), Steel(5.0)</a:t>
            </a:r>
          </a:p>
        </p:txBody>
      </p:sp>
      <p:sp>
        <p:nvSpPr>
          <p:cNvPr id="27" name="Down Arrow 26"/>
          <p:cNvSpPr/>
          <p:nvPr/>
        </p:nvSpPr>
        <p:spPr>
          <a:xfrm>
            <a:off x="8732520" y="4517136"/>
            <a:ext cx="182880" cy="137160"/>
          </a:xfrm>
          <a:prstGeom prst="downArrow">
            <a:avLst/>
          </a:prstGeom>
          <a:solidFill>
            <a:srgbClr val="1AAB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5943600" y="4745736"/>
            <a:ext cx="5760720" cy="411480"/>
          </a:xfrm>
          <a:prstGeom prst="roundRect">
            <a:avLst>
              <a:gd name="adj" fmla="val 10000"/>
            </a:avLst>
          </a:prstGeom>
          <a:solidFill>
            <a:srgbClr val="FDF2E3"/>
          </a:solidFill>
          <a:ln w="19050">
            <a:solidFill>
              <a:srgbClr val="2C6FB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defRPr sz="1000" b="0">
                <a:solidFill>
                  <a:srgbClr val="1A1A2E"/>
                </a:solidFill>
                <a:latin typeface="Calibri"/>
              </a:defRPr>
            </a:pPr>
            <a:r>
              <a:t>STEP 3: Take full items while capacity remains</a:t>
            </a:r>
            <a:br/>
            <a:r>
              <a:t>Then take fraction of next item (partial weight × value)</a:t>
            </a:r>
          </a:p>
        </p:txBody>
      </p:sp>
      <p:sp>
        <p:nvSpPr>
          <p:cNvPr id="29" name="Down Arrow 28"/>
          <p:cNvSpPr/>
          <p:nvPr/>
        </p:nvSpPr>
        <p:spPr>
          <a:xfrm>
            <a:off x="8732520" y="5175504"/>
            <a:ext cx="182880" cy="137160"/>
          </a:xfrm>
          <a:prstGeom prst="downArrow">
            <a:avLst/>
          </a:prstGeom>
          <a:solidFill>
            <a:srgbClr val="1AAB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ounded Rectangle 29"/>
          <p:cNvSpPr/>
          <p:nvPr/>
        </p:nvSpPr>
        <p:spPr>
          <a:xfrm>
            <a:off x="5943600" y="5404104"/>
            <a:ext cx="5760720" cy="411480"/>
          </a:xfrm>
          <a:prstGeom prst="roundRect">
            <a:avLst>
              <a:gd name="adj" fmla="val 10000"/>
            </a:avLst>
          </a:prstGeom>
          <a:solidFill>
            <a:srgbClr val="C8E6C9"/>
          </a:solidFill>
          <a:ln w="19050">
            <a:solidFill>
              <a:srgbClr val="2C6FB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defRPr sz="1000" b="0">
                <a:solidFill>
                  <a:srgbClr val="1A1A2E"/>
                </a:solidFill>
                <a:latin typeface="Calibri"/>
              </a:defRPr>
            </a:pPr>
            <a:r>
              <a:t>STEP 4: Output: Max utility = 105.0</a:t>
            </a:r>
            <a:br/>
            <a:r>
              <a:t>Paint 5 full + Asphalt 10 full + Concrete 5 partial (62.5%)</a:t>
            </a:r>
          </a:p>
        </p:txBody>
      </p:sp>
      <p:sp>
        <p:nvSpPr>
          <p:cNvPr id="32" name="TextBox 31"/>
          <p:cNvSpPr txBox="1"/>
          <p:nvPr/>
        </p:nvSpPr>
        <p:spPr>
          <a:xfrm>
            <a:off x="457200" y="6492240"/>
            <a:ext cx="10972800" cy="182880"/>
          </a:xfrm>
          <a:prstGeom prst="rect">
            <a:avLst/>
          </a:prstGeom>
          <a:noFill/>
        </p:spPr>
        <p:txBody>
          <a:bodyPr wrap="square">
            <a:spAutoFit/>
          </a:bodyPr>
          <a:lstStyle/>
          <a:p>
            <a:pPr algn="ctr">
              <a:defRPr sz="800" b="0">
                <a:solidFill>
                  <a:srgbClr val="55556E"/>
                </a:solidFill>
                <a:latin typeface="Calibri"/>
              </a:defRPr>
            </a:pPr>
            <a:r>
              <a:t>UrbanAI | Smart City Infrastructure Optimization Platform  —  Part 1 of 2</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0F4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2C6F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74320"/>
            <a:ext cx="10972800" cy="553998"/>
          </a:xfrm>
          <a:prstGeom prst="rect">
            <a:avLst/>
          </a:prstGeom>
          <a:noFill/>
        </p:spPr>
        <p:txBody>
          <a:bodyPr wrap="square">
            <a:spAutoFit/>
          </a:bodyPr>
          <a:lstStyle/>
          <a:p>
            <a:pPr algn="l">
              <a:defRPr sz="3000" b="1">
                <a:solidFill>
                  <a:srgbClr val="2C6FBB"/>
                </a:solidFill>
                <a:latin typeface="Calibri"/>
              </a:defRPr>
            </a:pPr>
            <a:r>
              <a:rPr dirty="0"/>
              <a:t>Module 6b: Dynamic Programming — 0/1 Knapsack &amp; Edit Distance </a:t>
            </a:r>
          </a:p>
        </p:txBody>
      </p:sp>
      <p:sp>
        <p:nvSpPr>
          <p:cNvPr id="5" name="Rectangle 4"/>
          <p:cNvSpPr/>
          <p:nvPr/>
        </p:nvSpPr>
        <p:spPr>
          <a:xfrm>
            <a:off x="548640" y="1097280"/>
            <a:ext cx="10972800" cy="27432"/>
          </a:xfrm>
          <a:prstGeom prst="rect">
            <a:avLst/>
          </a:prstGeom>
          <a:solidFill>
            <a:srgbClr val="2C6F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365760" y="1097280"/>
            <a:ext cx="4572000" cy="1554480"/>
          </a:xfrm>
          <a:prstGeom prst="roundRect">
            <a:avLst>
              <a:gd name="adj" fmla="val 10000"/>
            </a:avLst>
          </a:prstGeom>
          <a:solidFill>
            <a:srgbClr val="E3F2FD"/>
          </a:solidFill>
          <a:ln w="19050">
            <a:solidFill>
              <a:srgbClr val="2C6FB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8640" y="1115568"/>
            <a:ext cx="4206240" cy="228600"/>
          </a:xfrm>
          <a:prstGeom prst="rect">
            <a:avLst/>
          </a:prstGeom>
          <a:noFill/>
        </p:spPr>
        <p:txBody>
          <a:bodyPr wrap="square">
            <a:spAutoFit/>
          </a:bodyPr>
          <a:lstStyle/>
          <a:p>
            <a:pPr algn="ctr">
              <a:defRPr sz="1200" b="1">
                <a:solidFill>
                  <a:srgbClr val="2C6FBB"/>
                </a:solidFill>
                <a:latin typeface="Calibri"/>
              </a:defRPr>
            </a:pPr>
            <a:r>
              <a:t>📋 Techniques</a:t>
            </a:r>
          </a:p>
        </p:txBody>
      </p:sp>
      <p:sp>
        <p:nvSpPr>
          <p:cNvPr id="8" name="TextBox 7"/>
          <p:cNvSpPr txBox="1"/>
          <p:nvPr/>
        </p:nvSpPr>
        <p:spPr>
          <a:xfrm>
            <a:off x="548640" y="1371600"/>
            <a:ext cx="4206240" cy="1188720"/>
          </a:xfrm>
          <a:prstGeom prst="rect">
            <a:avLst/>
          </a:prstGeom>
          <a:noFill/>
        </p:spPr>
        <p:txBody>
          <a:bodyPr wrap="square">
            <a:spAutoFit/>
          </a:bodyPr>
          <a:lstStyle/>
          <a:p>
            <a:pPr algn="l">
              <a:spcAft>
                <a:spcPts val="600"/>
              </a:spcAft>
              <a:defRPr sz="1000" b="0">
                <a:solidFill>
                  <a:srgbClr val="1A1A2E"/>
                </a:solidFill>
                <a:latin typeface="Calibri"/>
              </a:defRPr>
            </a:pPr>
            <a:r>
              <a:t>3. 0/1 Knapsack (DP) — Discrete project budgeting</a:t>
            </a:r>
          </a:p>
          <a:p>
            <a:pPr algn="l">
              <a:spcAft>
                <a:spcPts val="600"/>
              </a:spcAft>
              <a:defRPr sz="1000" b="0">
                <a:solidFill>
                  <a:srgbClr val="1A1A2E"/>
                </a:solidFill>
                <a:latin typeface="Calibri"/>
              </a:defRPr>
            </a:pPr>
            <a:r>
              <a:t>4. Edit Distance (DP) — Service request text correction</a:t>
            </a:r>
          </a:p>
        </p:txBody>
      </p:sp>
      <p:sp>
        <p:nvSpPr>
          <p:cNvPr id="9" name="Rounded Rectangle 8"/>
          <p:cNvSpPr/>
          <p:nvPr/>
        </p:nvSpPr>
        <p:spPr>
          <a:xfrm>
            <a:off x="5212080" y="1097280"/>
            <a:ext cx="6583680" cy="1554480"/>
          </a:xfrm>
          <a:prstGeom prst="roundRect">
            <a:avLst>
              <a:gd name="adj" fmla="val 10000"/>
            </a:avLst>
          </a:prstGeom>
          <a:solidFill>
            <a:srgbClr val="FDF2E3"/>
          </a:solidFill>
          <a:ln w="19050">
            <a:solidFill>
              <a:srgbClr val="E67E2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394960" y="1115568"/>
            <a:ext cx="6217920" cy="228600"/>
          </a:xfrm>
          <a:prstGeom prst="rect">
            <a:avLst/>
          </a:prstGeom>
          <a:noFill/>
        </p:spPr>
        <p:txBody>
          <a:bodyPr wrap="square">
            <a:spAutoFit/>
          </a:bodyPr>
          <a:lstStyle/>
          <a:p>
            <a:pPr algn="ctr">
              <a:defRPr sz="1200" b="1">
                <a:solidFill>
                  <a:srgbClr val="E67E22"/>
                </a:solidFill>
                <a:latin typeface="Calibri"/>
              </a:defRPr>
            </a:pPr>
            <a:r>
              <a:t>❓ Why Dynamic Programming?</a:t>
            </a:r>
          </a:p>
        </p:txBody>
      </p:sp>
      <p:sp>
        <p:nvSpPr>
          <p:cNvPr id="11" name="TextBox 10"/>
          <p:cNvSpPr txBox="1"/>
          <p:nvPr/>
        </p:nvSpPr>
        <p:spPr>
          <a:xfrm>
            <a:off x="5394960" y="1371600"/>
            <a:ext cx="6217920" cy="1188720"/>
          </a:xfrm>
          <a:prstGeom prst="rect">
            <a:avLst/>
          </a:prstGeom>
          <a:noFill/>
        </p:spPr>
        <p:txBody>
          <a:bodyPr wrap="square">
            <a:spAutoFit/>
          </a:bodyPr>
          <a:lstStyle/>
          <a:p>
            <a:pPr algn="l">
              <a:spcAft>
                <a:spcPts val="600"/>
              </a:spcAft>
              <a:defRPr sz="1000" b="0">
                <a:solidFill>
                  <a:srgbClr val="1A1A2E"/>
                </a:solidFill>
                <a:latin typeface="Calibri"/>
              </a:defRPr>
            </a:pPr>
            <a:r>
              <a:t>• 0/1 Knapsack: each project is select/skip → optimal substructure</a:t>
            </a:r>
          </a:p>
          <a:p>
            <a:pPr algn="l">
              <a:spcAft>
                <a:spcPts val="600"/>
              </a:spcAft>
              <a:defRPr sz="1000" b="0">
                <a:solidFill>
                  <a:srgbClr val="1A1A2E"/>
                </a:solidFill>
                <a:latin typeface="Calibri"/>
              </a:defRPr>
            </a:pPr>
            <a:r>
              <a:t>• Edit Distance: minimum operations needed → overlapping subproblems</a:t>
            </a:r>
          </a:p>
        </p:txBody>
      </p:sp>
      <p:sp>
        <p:nvSpPr>
          <p:cNvPr id="12" name="TextBox 11"/>
          <p:cNvSpPr txBox="1"/>
          <p:nvPr/>
        </p:nvSpPr>
        <p:spPr>
          <a:xfrm>
            <a:off x="365760" y="2788920"/>
            <a:ext cx="5486400" cy="228600"/>
          </a:xfrm>
          <a:prstGeom prst="rect">
            <a:avLst/>
          </a:prstGeom>
          <a:noFill/>
        </p:spPr>
        <p:txBody>
          <a:bodyPr wrap="square">
            <a:spAutoFit/>
          </a:bodyPr>
          <a:lstStyle/>
          <a:p>
            <a:pPr algn="ctr">
              <a:defRPr sz="1200" b="1">
                <a:solidFill>
                  <a:srgbClr val="C0392B"/>
                </a:solidFill>
                <a:latin typeface="Calibri"/>
              </a:defRPr>
            </a:pPr>
            <a:r>
              <a:t>📊 Step-by-Step — 0/1 Knapsack DP (Left) + Edit Distance (Right)</a:t>
            </a:r>
          </a:p>
        </p:txBody>
      </p:sp>
      <p:sp>
        <p:nvSpPr>
          <p:cNvPr id="13" name="Rounded Rectangle 12"/>
          <p:cNvSpPr/>
          <p:nvPr/>
        </p:nvSpPr>
        <p:spPr>
          <a:xfrm>
            <a:off x="274320" y="3063240"/>
            <a:ext cx="5303520" cy="292608"/>
          </a:xfrm>
          <a:prstGeom prst="roundRect">
            <a:avLst>
              <a:gd name="adj" fmla="val 10000"/>
            </a:avLst>
          </a:prstGeom>
          <a:solidFill>
            <a:srgbClr val="E67E22"/>
          </a:solidFill>
          <a:ln w="19050">
            <a:solidFill>
              <a:srgbClr val="E67E2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74320" y="3063240"/>
            <a:ext cx="5303520" cy="292608"/>
          </a:xfrm>
          <a:prstGeom prst="rect">
            <a:avLst/>
          </a:prstGeom>
          <a:noFill/>
        </p:spPr>
        <p:txBody>
          <a:bodyPr wrap="square">
            <a:spAutoFit/>
          </a:bodyPr>
          <a:lstStyle/>
          <a:p>
            <a:pPr algn="ctr">
              <a:defRPr sz="1100" b="1">
                <a:solidFill>
                  <a:srgbClr val="FFFFFF"/>
                </a:solidFill>
                <a:latin typeface="Calibri"/>
              </a:defRPr>
            </a:pPr>
            <a:r>
              <a:t>▶ 0/1 KNAPSACK (DP): Select Best Projects Within Budget</a:t>
            </a:r>
          </a:p>
        </p:txBody>
      </p:sp>
      <p:sp>
        <p:nvSpPr>
          <p:cNvPr id="15" name="Rounded Rectangle 14"/>
          <p:cNvSpPr/>
          <p:nvPr/>
        </p:nvSpPr>
        <p:spPr>
          <a:xfrm>
            <a:off x="274320" y="3429000"/>
            <a:ext cx="5303520" cy="411480"/>
          </a:xfrm>
          <a:prstGeom prst="roundRect">
            <a:avLst>
              <a:gd name="adj" fmla="val 10000"/>
            </a:avLst>
          </a:prstGeom>
          <a:solidFill>
            <a:srgbClr val="E3F2FD"/>
          </a:solidFill>
          <a:ln w="19050">
            <a:solidFill>
              <a:srgbClr val="2C6FB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defRPr sz="1000" b="0">
                <a:solidFill>
                  <a:srgbClr val="1A1A2E"/>
                </a:solidFill>
                <a:latin typeface="Calibri"/>
              </a:defRPr>
            </a:pPr>
            <a:r>
              <a:t>STEP 1: Define 4 projects (cost, value), budget=5</a:t>
            </a:r>
            <a:br/>
            <a:r>
              <a:t>RoadExpansion(5,10), BridgeRepair(3,6), ParkUpgrade(2,4), DrainageFix(4,8)</a:t>
            </a:r>
          </a:p>
        </p:txBody>
      </p:sp>
      <p:sp>
        <p:nvSpPr>
          <p:cNvPr id="16" name="Down Arrow 15"/>
          <p:cNvSpPr/>
          <p:nvPr/>
        </p:nvSpPr>
        <p:spPr>
          <a:xfrm>
            <a:off x="2834640" y="3858768"/>
            <a:ext cx="182880" cy="137160"/>
          </a:xfrm>
          <a:prstGeom prst="downArrow">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274320" y="4087368"/>
            <a:ext cx="5303520" cy="411480"/>
          </a:xfrm>
          <a:prstGeom prst="roundRect">
            <a:avLst>
              <a:gd name="adj" fmla="val 10000"/>
            </a:avLst>
          </a:prstGeom>
          <a:solidFill>
            <a:srgbClr val="E0F2F1"/>
          </a:solidFill>
          <a:ln w="19050">
            <a:solidFill>
              <a:srgbClr val="2C6FB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defRPr sz="1000" b="0">
                <a:solidFill>
                  <a:srgbClr val="1A1A2E"/>
                </a:solidFill>
                <a:latin typeface="Calibri"/>
              </a:defRPr>
            </a:pPr>
            <a:r>
              <a:t>STEP 2: Build DP[n+1][budget+1] table</a:t>
            </a:r>
            <a:br/>
            <a:r>
              <a:t>Initialize row 0 &amp; col 0 = 0  —  dp[i][w] = max value for i projects, w budget</a:t>
            </a:r>
          </a:p>
        </p:txBody>
      </p:sp>
      <p:sp>
        <p:nvSpPr>
          <p:cNvPr id="18" name="Down Arrow 17"/>
          <p:cNvSpPr/>
          <p:nvPr/>
        </p:nvSpPr>
        <p:spPr>
          <a:xfrm>
            <a:off x="2834640" y="4517136"/>
            <a:ext cx="182880" cy="137160"/>
          </a:xfrm>
          <a:prstGeom prst="downArrow">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274320" y="4745736"/>
            <a:ext cx="5303520" cy="411480"/>
          </a:xfrm>
          <a:prstGeom prst="roundRect">
            <a:avLst>
              <a:gd name="adj" fmla="val 10000"/>
            </a:avLst>
          </a:prstGeom>
          <a:solidFill>
            <a:srgbClr val="FDF2E3"/>
          </a:solidFill>
          <a:ln w="19050">
            <a:solidFill>
              <a:srgbClr val="2C6FB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defRPr sz="1000" b="0">
                <a:solidFill>
                  <a:srgbClr val="1A1A2E"/>
                </a:solidFill>
                <a:latin typeface="Calibri"/>
              </a:defRPr>
            </a:pPr>
            <a:r>
              <a:t>STEP 3: For each project i and budget w:</a:t>
            </a:r>
            <a:br/>
            <a:r>
              <a:t>if cost ≤ w: dp[i][w]=max(dp[i-1][w], value[i]+dp[i-1][w-cost[i]])</a:t>
            </a:r>
            <a:br/>
            <a:r>
              <a:t>else: dp[i][w] = dp[i-1][w]</a:t>
            </a:r>
          </a:p>
        </p:txBody>
      </p:sp>
      <p:sp>
        <p:nvSpPr>
          <p:cNvPr id="20" name="Down Arrow 19"/>
          <p:cNvSpPr/>
          <p:nvPr/>
        </p:nvSpPr>
        <p:spPr>
          <a:xfrm>
            <a:off x="2834640" y="5175504"/>
            <a:ext cx="182880" cy="137160"/>
          </a:xfrm>
          <a:prstGeom prst="downArrow">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274320" y="5404104"/>
            <a:ext cx="5303520" cy="411480"/>
          </a:xfrm>
          <a:prstGeom prst="roundRect">
            <a:avLst>
              <a:gd name="adj" fmla="val 10000"/>
            </a:avLst>
          </a:prstGeom>
          <a:solidFill>
            <a:srgbClr val="C8E6C9"/>
          </a:solidFill>
          <a:ln w="19050">
            <a:solidFill>
              <a:srgbClr val="2C6FB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defRPr sz="1000" b="0">
                <a:solidFill>
                  <a:srgbClr val="1A1A2E"/>
                </a:solidFill>
                <a:latin typeface="Calibri"/>
              </a:defRPr>
            </a:pPr>
            <a:r>
              <a:t>STEP 4: Backtrack DP table → optimal set</a:t>
            </a:r>
            <a:br/>
            <a:r>
              <a:t>Selected: RoadExpansion(cost=5,val=10)  →  Total Value = 10 ✅</a:t>
            </a:r>
          </a:p>
        </p:txBody>
      </p:sp>
      <p:sp>
        <p:nvSpPr>
          <p:cNvPr id="22" name="Rounded Rectangle 21"/>
          <p:cNvSpPr/>
          <p:nvPr/>
        </p:nvSpPr>
        <p:spPr>
          <a:xfrm>
            <a:off x="5943600" y="3063240"/>
            <a:ext cx="5760720" cy="292608"/>
          </a:xfrm>
          <a:prstGeom prst="roundRect">
            <a:avLst>
              <a:gd name="adj" fmla="val 10000"/>
            </a:avLst>
          </a:prstGeom>
          <a:solidFill>
            <a:srgbClr val="8E44AD"/>
          </a:solidFill>
          <a:ln w="19050">
            <a:solidFill>
              <a:srgbClr val="8E44A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943600" y="3063240"/>
            <a:ext cx="5760720" cy="292608"/>
          </a:xfrm>
          <a:prstGeom prst="rect">
            <a:avLst/>
          </a:prstGeom>
          <a:noFill/>
        </p:spPr>
        <p:txBody>
          <a:bodyPr wrap="square">
            <a:spAutoFit/>
          </a:bodyPr>
          <a:lstStyle/>
          <a:p>
            <a:pPr algn="ctr">
              <a:defRPr sz="1100" b="1">
                <a:solidFill>
                  <a:srgbClr val="FFFFFF"/>
                </a:solidFill>
                <a:latin typeface="Calibri"/>
              </a:defRPr>
            </a:pPr>
            <a:r>
              <a:t>▶ EDIT DISTANCE (DP): Auto-Correct Service Request Text</a:t>
            </a:r>
          </a:p>
        </p:txBody>
      </p:sp>
      <p:sp>
        <p:nvSpPr>
          <p:cNvPr id="24" name="Rounded Rectangle 23"/>
          <p:cNvSpPr/>
          <p:nvPr/>
        </p:nvSpPr>
        <p:spPr>
          <a:xfrm>
            <a:off x="5943600" y="3429000"/>
            <a:ext cx="5760720" cy="411480"/>
          </a:xfrm>
          <a:prstGeom prst="roundRect">
            <a:avLst>
              <a:gd name="adj" fmla="val 10000"/>
            </a:avLst>
          </a:prstGeom>
          <a:solidFill>
            <a:srgbClr val="E3F2FD"/>
          </a:solidFill>
          <a:ln w="19050">
            <a:solidFill>
              <a:srgbClr val="2C6FB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defRPr sz="1000" b="0">
                <a:solidFill>
                  <a:srgbClr val="1A1A2E"/>
                </a:solidFill>
                <a:latin typeface="Calibri"/>
              </a:defRPr>
            </a:pPr>
            <a:r>
              <a:t>STEP 1: User typed: 'Fix strt lite' (with typos)</a:t>
            </a:r>
            <a:br/>
            <a:r>
              <a:t>Compare against 5 valid categories in UrbanAI database</a:t>
            </a:r>
          </a:p>
        </p:txBody>
      </p:sp>
      <p:sp>
        <p:nvSpPr>
          <p:cNvPr id="25" name="Down Arrow 24"/>
          <p:cNvSpPr/>
          <p:nvPr/>
        </p:nvSpPr>
        <p:spPr>
          <a:xfrm>
            <a:off x="8732520" y="3858768"/>
            <a:ext cx="182880" cy="137160"/>
          </a:xfrm>
          <a:prstGeom prst="downArrow">
            <a:avLst/>
          </a:prstGeom>
          <a:solidFill>
            <a:srgbClr val="8E4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ounded Rectangle 25"/>
          <p:cNvSpPr/>
          <p:nvPr/>
        </p:nvSpPr>
        <p:spPr>
          <a:xfrm>
            <a:off x="5943600" y="4087368"/>
            <a:ext cx="5760720" cy="411480"/>
          </a:xfrm>
          <a:prstGeom prst="roundRect">
            <a:avLst>
              <a:gd name="adj" fmla="val 10000"/>
            </a:avLst>
          </a:prstGeom>
          <a:solidFill>
            <a:srgbClr val="E0F2F1"/>
          </a:solidFill>
          <a:ln w="19050">
            <a:solidFill>
              <a:srgbClr val="2C6FB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defRPr sz="1000" b="0">
                <a:solidFill>
                  <a:srgbClr val="1A1A2E"/>
                </a:solidFill>
                <a:latin typeface="Calibri"/>
              </a:defRPr>
            </a:pPr>
            <a:r>
              <a:t>STEP 2: Build DP[m+1][n+1] cost matrix for each pair</a:t>
            </a:r>
            <a:br/>
            <a:r>
              <a:t>Initialize: dp[i][0]=i (delete all), dp[0][j]=j (insert all)</a:t>
            </a:r>
          </a:p>
        </p:txBody>
      </p:sp>
      <p:sp>
        <p:nvSpPr>
          <p:cNvPr id="27" name="Down Arrow 26"/>
          <p:cNvSpPr/>
          <p:nvPr/>
        </p:nvSpPr>
        <p:spPr>
          <a:xfrm>
            <a:off x="8732520" y="4517136"/>
            <a:ext cx="182880" cy="137160"/>
          </a:xfrm>
          <a:prstGeom prst="downArrow">
            <a:avLst/>
          </a:prstGeom>
          <a:solidFill>
            <a:srgbClr val="8E4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5943600" y="4745736"/>
            <a:ext cx="5760720" cy="411480"/>
          </a:xfrm>
          <a:prstGeom prst="roundRect">
            <a:avLst>
              <a:gd name="adj" fmla="val 10000"/>
            </a:avLst>
          </a:prstGeom>
          <a:solidFill>
            <a:srgbClr val="FDF2E3"/>
          </a:solidFill>
          <a:ln w="19050">
            <a:solidFill>
              <a:srgbClr val="2C6FB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defRPr sz="1000" b="0">
                <a:solidFill>
                  <a:srgbClr val="1A1A2E"/>
                </a:solidFill>
                <a:latin typeface="Calibri"/>
              </a:defRPr>
            </a:pPr>
            <a:r>
              <a:t>STEP 3: For each cell: min of 3 operations</a:t>
            </a:r>
            <a:br/>
            <a:r>
              <a:t>Insert = dp[i][j-1]+1, Delete = dp[i-1][j]+1, Replace = dp[i-1][j-1]+1(0 if match)</a:t>
            </a:r>
          </a:p>
        </p:txBody>
      </p:sp>
      <p:sp>
        <p:nvSpPr>
          <p:cNvPr id="29" name="Down Arrow 28"/>
          <p:cNvSpPr/>
          <p:nvPr/>
        </p:nvSpPr>
        <p:spPr>
          <a:xfrm>
            <a:off x="8732520" y="5175504"/>
            <a:ext cx="182880" cy="137160"/>
          </a:xfrm>
          <a:prstGeom prst="downArrow">
            <a:avLst/>
          </a:prstGeom>
          <a:solidFill>
            <a:srgbClr val="8E4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ounded Rectangle 29"/>
          <p:cNvSpPr/>
          <p:nvPr/>
        </p:nvSpPr>
        <p:spPr>
          <a:xfrm>
            <a:off x="5943600" y="5404104"/>
            <a:ext cx="5760720" cy="411480"/>
          </a:xfrm>
          <a:prstGeom prst="roundRect">
            <a:avLst>
              <a:gd name="adj" fmla="val 10000"/>
            </a:avLst>
          </a:prstGeom>
          <a:solidFill>
            <a:srgbClr val="C8E6C9"/>
          </a:solidFill>
          <a:ln w="19050">
            <a:solidFill>
              <a:srgbClr val="2C6FB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defRPr sz="1000" b="0">
                <a:solidFill>
                  <a:srgbClr val="1A1A2E"/>
                </a:solidFill>
                <a:latin typeface="Calibri"/>
              </a:defRPr>
            </a:pPr>
            <a:r>
              <a:t>STEP 4: Find minimum distance across all categories</a:t>
            </a:r>
            <a:br/>
            <a:r>
              <a:t>'Fix strt lite' → 'Fix Street Light' (Dist=5) ← closest match ✅</a:t>
            </a:r>
          </a:p>
        </p:txBody>
      </p:sp>
      <p:sp>
        <p:nvSpPr>
          <p:cNvPr id="31" name="TextBox 30"/>
          <p:cNvSpPr txBox="1"/>
          <p:nvPr/>
        </p:nvSpPr>
        <p:spPr>
          <a:xfrm>
            <a:off x="365760" y="6263640"/>
            <a:ext cx="10972800" cy="228600"/>
          </a:xfrm>
          <a:prstGeom prst="rect">
            <a:avLst/>
          </a:prstGeom>
          <a:noFill/>
        </p:spPr>
        <p:txBody>
          <a:bodyPr wrap="square">
            <a:spAutoFit/>
          </a:bodyPr>
          <a:lstStyle/>
          <a:p>
            <a:pPr algn="ctr">
              <a:defRPr sz="1000" b="0">
                <a:solidFill>
                  <a:srgbClr val="55556E"/>
                </a:solidFill>
                <a:latin typeface="Calibri"/>
              </a:defRPr>
            </a:pPr>
            <a:r>
              <a:t>0/1 Knapsack: O(n×W)  |  Edit Distance: O(m×n)</a:t>
            </a:r>
          </a:p>
        </p:txBody>
      </p:sp>
      <p:sp>
        <p:nvSpPr>
          <p:cNvPr id="32" name="TextBox 31"/>
          <p:cNvSpPr txBox="1"/>
          <p:nvPr/>
        </p:nvSpPr>
        <p:spPr>
          <a:xfrm>
            <a:off x="457200" y="6492240"/>
            <a:ext cx="10972800" cy="182880"/>
          </a:xfrm>
          <a:prstGeom prst="rect">
            <a:avLst/>
          </a:prstGeom>
          <a:noFill/>
        </p:spPr>
        <p:txBody>
          <a:bodyPr wrap="square">
            <a:spAutoFit/>
          </a:bodyPr>
          <a:lstStyle/>
          <a:p>
            <a:pPr algn="ctr">
              <a:defRPr sz="800" b="0">
                <a:solidFill>
                  <a:srgbClr val="55556E"/>
                </a:solidFill>
                <a:latin typeface="Calibri"/>
              </a:defRPr>
            </a:pPr>
            <a:r>
              <a:t>UrbanAI | Smart City Infrastructure Optimization Platform  —  Part 2 of 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0F4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2C6F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74320"/>
            <a:ext cx="10972800" cy="640080"/>
          </a:xfrm>
          <a:prstGeom prst="rect">
            <a:avLst/>
          </a:prstGeom>
          <a:noFill/>
        </p:spPr>
        <p:txBody>
          <a:bodyPr wrap="square">
            <a:spAutoFit/>
          </a:bodyPr>
          <a:lstStyle/>
          <a:p>
            <a:pPr algn="l">
              <a:defRPr sz="3000" b="1">
                <a:solidFill>
                  <a:srgbClr val="2C6FBB"/>
                </a:solidFill>
                <a:latin typeface="Calibri"/>
              </a:defRPr>
            </a:pPr>
            <a:r>
              <a:t>Complete Program Flow — Main.java</a:t>
            </a:r>
          </a:p>
        </p:txBody>
      </p:sp>
      <p:sp>
        <p:nvSpPr>
          <p:cNvPr id="4" name="TextBox 3"/>
          <p:cNvSpPr txBox="1"/>
          <p:nvPr/>
        </p:nvSpPr>
        <p:spPr>
          <a:xfrm>
            <a:off x="548640" y="777240"/>
            <a:ext cx="10972800" cy="365760"/>
          </a:xfrm>
          <a:prstGeom prst="rect">
            <a:avLst/>
          </a:prstGeom>
          <a:noFill/>
        </p:spPr>
        <p:txBody>
          <a:bodyPr wrap="square">
            <a:spAutoFit/>
          </a:bodyPr>
          <a:lstStyle/>
          <a:p>
            <a:pPr algn="l">
              <a:defRPr sz="1600" b="0">
                <a:solidFill>
                  <a:srgbClr val="55556E"/>
                </a:solidFill>
                <a:latin typeface="Calibri"/>
              </a:defRPr>
            </a:pPr>
            <a:r>
              <a:t>End-to-end execution flow from startup to exit</a:t>
            </a:r>
          </a:p>
        </p:txBody>
      </p:sp>
      <p:sp>
        <p:nvSpPr>
          <p:cNvPr id="5" name="Rectangle 4"/>
          <p:cNvSpPr/>
          <p:nvPr/>
        </p:nvSpPr>
        <p:spPr>
          <a:xfrm>
            <a:off x="548640" y="1097280"/>
            <a:ext cx="10972800" cy="27432"/>
          </a:xfrm>
          <a:prstGeom prst="rect">
            <a:avLst/>
          </a:prstGeom>
          <a:solidFill>
            <a:srgbClr val="2C6F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5120640" y="1280160"/>
            <a:ext cx="1828800" cy="457200"/>
          </a:xfrm>
          <a:prstGeom prst="roundRect">
            <a:avLst>
              <a:gd name="adj" fmla="val 10000"/>
            </a:avLst>
          </a:prstGeom>
          <a:solidFill>
            <a:srgbClr val="2C6FBB"/>
          </a:solidFill>
          <a:ln w="19050">
            <a:solidFill>
              <a:srgbClr val="2C6FB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defRPr sz="1300" b="1">
                <a:solidFill>
                  <a:srgbClr val="FFFFFF"/>
                </a:solidFill>
                <a:latin typeface="Calibri"/>
              </a:defRPr>
            </a:pPr>
            <a:r>
              <a:t>START</a:t>
            </a:r>
            <a:br/>
            <a:r>
              <a:t>main()</a:t>
            </a:r>
          </a:p>
        </p:txBody>
      </p:sp>
      <p:sp>
        <p:nvSpPr>
          <p:cNvPr id="7" name="Down Arrow 6"/>
          <p:cNvSpPr/>
          <p:nvPr/>
        </p:nvSpPr>
        <p:spPr>
          <a:xfrm>
            <a:off x="6035040" y="1783080"/>
            <a:ext cx="274320" cy="182880"/>
          </a:xfrm>
          <a:prstGeom prst="downArrow">
            <a:avLst/>
          </a:prstGeom>
          <a:solidFill>
            <a:srgbClr val="2C6F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457200" y="2011680"/>
            <a:ext cx="2560320" cy="502920"/>
          </a:xfrm>
          <a:prstGeom prst="roundRect">
            <a:avLst>
              <a:gd name="adj" fmla="val 10000"/>
            </a:avLst>
          </a:prstGeom>
          <a:solidFill>
            <a:srgbClr val="BBDEFB"/>
          </a:solidFill>
          <a:ln w="19050">
            <a:solidFill>
              <a:srgbClr val="2C6FB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defRPr sz="1100" b="1">
                <a:solidFill>
                  <a:srgbClr val="1A1A2E"/>
                </a:solidFill>
                <a:latin typeface="Calibri"/>
              </a:defRPr>
            </a:pPr>
            <a:r>
              <a:t>Initialize AssetManager</a:t>
            </a:r>
            <a:br/>
            <a:r>
              <a:t>(AVL Tree + PostgreSQL)</a:t>
            </a:r>
          </a:p>
        </p:txBody>
      </p:sp>
      <p:sp>
        <p:nvSpPr>
          <p:cNvPr id="9" name="Rounded Rectangle 8"/>
          <p:cNvSpPr/>
          <p:nvPr/>
        </p:nvSpPr>
        <p:spPr>
          <a:xfrm>
            <a:off x="3383280" y="2011680"/>
            <a:ext cx="2560320" cy="502920"/>
          </a:xfrm>
          <a:prstGeom prst="roundRect">
            <a:avLst>
              <a:gd name="adj" fmla="val 10000"/>
            </a:avLst>
          </a:prstGeom>
          <a:solidFill>
            <a:srgbClr val="BBDEFB"/>
          </a:solidFill>
          <a:ln w="19050">
            <a:solidFill>
              <a:srgbClr val="2C6FB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defRPr sz="1100" b="1">
                <a:solidFill>
                  <a:srgbClr val="1A1A2E"/>
                </a:solidFill>
                <a:latin typeface="Calibri"/>
              </a:defRPr>
            </a:pPr>
            <a:r>
              <a:t>Initialize TrafficManager</a:t>
            </a:r>
            <a:br/>
            <a:r>
              <a:t>(FenwickTree + PostgreSQL)</a:t>
            </a:r>
          </a:p>
        </p:txBody>
      </p:sp>
      <p:sp>
        <p:nvSpPr>
          <p:cNvPr id="10" name="Rounded Rectangle 9"/>
          <p:cNvSpPr/>
          <p:nvPr/>
        </p:nvSpPr>
        <p:spPr>
          <a:xfrm>
            <a:off x="6309360" y="2011680"/>
            <a:ext cx="2560320" cy="502920"/>
          </a:xfrm>
          <a:prstGeom prst="roundRect">
            <a:avLst>
              <a:gd name="adj" fmla="val 10000"/>
            </a:avLst>
          </a:prstGeom>
          <a:solidFill>
            <a:srgbClr val="BBDEFB"/>
          </a:solidFill>
          <a:ln w="19050">
            <a:solidFill>
              <a:srgbClr val="2C6FB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defRPr sz="1100" b="1">
                <a:solidFill>
                  <a:srgbClr val="1A1A2E"/>
                </a:solidFill>
                <a:latin typeface="Calibri"/>
              </a:defRPr>
            </a:pPr>
            <a:r>
              <a:t>Initialize Graph</a:t>
            </a:r>
            <a:br/>
            <a:r>
              <a:t>(6 vertices, + BFS/DFS)</a:t>
            </a:r>
          </a:p>
        </p:txBody>
      </p:sp>
      <p:sp>
        <p:nvSpPr>
          <p:cNvPr id="11" name="Rounded Rectangle 10"/>
          <p:cNvSpPr/>
          <p:nvPr/>
        </p:nvSpPr>
        <p:spPr>
          <a:xfrm>
            <a:off x="9235440" y="2011680"/>
            <a:ext cx="2560320" cy="502920"/>
          </a:xfrm>
          <a:prstGeom prst="roundRect">
            <a:avLst>
              <a:gd name="adj" fmla="val 10000"/>
            </a:avLst>
          </a:prstGeom>
          <a:solidFill>
            <a:srgbClr val="BBDEFB"/>
          </a:solidFill>
          <a:ln w="19050">
            <a:solidFill>
              <a:srgbClr val="2C6FB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defRPr sz="1100" b="1">
                <a:solidFill>
                  <a:srgbClr val="1A1A2E"/>
                </a:solidFill>
                <a:latin typeface="Calibri"/>
              </a:defRPr>
            </a:pPr>
            <a:r>
              <a:t>Init Dijkstra &amp;</a:t>
            </a:r>
            <a:br/>
            <a:r>
              <a:t>Floyd-Warshall objects</a:t>
            </a:r>
          </a:p>
        </p:txBody>
      </p:sp>
      <p:sp>
        <p:nvSpPr>
          <p:cNvPr id="12" name="Rounded Rectangle 11"/>
          <p:cNvSpPr/>
          <p:nvPr/>
        </p:nvSpPr>
        <p:spPr>
          <a:xfrm>
            <a:off x="3383280" y="2926080"/>
            <a:ext cx="5029200" cy="411480"/>
          </a:xfrm>
          <a:prstGeom prst="roundRect">
            <a:avLst>
              <a:gd name="adj" fmla="val 10000"/>
            </a:avLst>
          </a:prstGeom>
          <a:solidFill>
            <a:srgbClr val="D1C4E9"/>
          </a:solidFill>
          <a:ln w="19050">
            <a:solidFill>
              <a:srgbClr val="2C6FB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defRPr sz="1000" b="1">
                <a:solidFill>
                  <a:srgbClr val="1A1A2E"/>
                </a:solidFill>
                <a:latin typeface="Calibri"/>
              </a:defRPr>
            </a:pPr>
            <a:r>
              <a:t>Init Greedy/DP Objects</a:t>
            </a:r>
            <a:br/>
            <a:r>
              <a:t>(ActivitySelection, FractionalKnapsack, Knapsack01, EditDistance)</a:t>
            </a:r>
          </a:p>
        </p:txBody>
      </p:sp>
      <p:sp>
        <p:nvSpPr>
          <p:cNvPr id="13" name="Down Arrow 12"/>
          <p:cNvSpPr/>
          <p:nvPr/>
        </p:nvSpPr>
        <p:spPr>
          <a:xfrm>
            <a:off x="6035040" y="2514600"/>
            <a:ext cx="274320" cy="182880"/>
          </a:xfrm>
          <a:prstGeom prst="downArrow">
            <a:avLst/>
          </a:prstGeom>
          <a:solidFill>
            <a:srgbClr val="2C6F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Down Arrow 13"/>
          <p:cNvSpPr/>
          <p:nvPr/>
        </p:nvSpPr>
        <p:spPr>
          <a:xfrm>
            <a:off x="6035040" y="3337560"/>
            <a:ext cx="274320" cy="228600"/>
          </a:xfrm>
          <a:prstGeom prst="downArrow">
            <a:avLst/>
          </a:prstGeom>
          <a:solidFill>
            <a:srgbClr val="2C6F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457200" y="3749039"/>
            <a:ext cx="11247120" cy="502920"/>
          </a:xfrm>
          <a:prstGeom prst="roundRect">
            <a:avLst>
              <a:gd name="adj" fmla="val 10000"/>
            </a:avLst>
          </a:prstGeom>
          <a:solidFill>
            <a:srgbClr val="E8F5E9"/>
          </a:solidFill>
          <a:ln w="19050">
            <a:solidFill>
              <a:srgbClr val="2C6FB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defRPr sz="1300" b="1">
                <a:solidFill>
                  <a:srgbClr val="27AE60"/>
                </a:solidFill>
                <a:latin typeface="Calibri"/>
              </a:defRPr>
            </a:pPr>
            <a:r>
              <a:t>INFINITE LOOP → Display Menu → Read User Choice (Scanner)</a:t>
            </a:r>
          </a:p>
        </p:txBody>
      </p:sp>
      <p:sp>
        <p:nvSpPr>
          <p:cNvPr id="16" name="Down Arrow 15"/>
          <p:cNvSpPr/>
          <p:nvPr/>
        </p:nvSpPr>
        <p:spPr>
          <a:xfrm>
            <a:off x="6035040" y="4297680"/>
            <a:ext cx="274320" cy="228600"/>
          </a:xfrm>
          <a:prstGeom prst="downArrow">
            <a:avLst/>
          </a:prstGeom>
          <a:solidFill>
            <a:srgbClr val="2C6F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274320" y="4663440"/>
            <a:ext cx="1645920" cy="502920"/>
          </a:xfrm>
          <a:prstGeom prst="roundRect">
            <a:avLst>
              <a:gd name="adj" fmla="val 10000"/>
            </a:avLst>
          </a:prstGeom>
          <a:solidFill>
            <a:srgbClr val="2C6FBB"/>
          </a:solidFill>
          <a:ln w="19050">
            <a:solidFill>
              <a:srgbClr val="2C6FB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defRPr sz="900" b="1">
                <a:solidFill>
                  <a:srgbClr val="FFFFFF"/>
                </a:solidFill>
                <a:latin typeface="Calibri"/>
              </a:defRPr>
            </a:pPr>
            <a:r>
              <a:t>Cases 1-3</a:t>
            </a:r>
            <a:br/>
            <a:r>
              <a:t>Trees &amp; Assets</a:t>
            </a:r>
          </a:p>
        </p:txBody>
      </p:sp>
      <p:sp>
        <p:nvSpPr>
          <p:cNvPr id="18" name="Rounded Rectangle 17"/>
          <p:cNvSpPr/>
          <p:nvPr/>
        </p:nvSpPr>
        <p:spPr>
          <a:xfrm>
            <a:off x="2103120" y="4663440"/>
            <a:ext cx="1645920" cy="502920"/>
          </a:xfrm>
          <a:prstGeom prst="roundRect">
            <a:avLst>
              <a:gd name="adj" fmla="val 10000"/>
            </a:avLst>
          </a:prstGeom>
          <a:solidFill>
            <a:srgbClr val="1AAB8E"/>
          </a:solidFill>
          <a:ln w="19050">
            <a:solidFill>
              <a:srgbClr val="2C6FB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defRPr sz="900" b="1">
                <a:solidFill>
                  <a:srgbClr val="FFFFFF"/>
                </a:solidFill>
                <a:latin typeface="Calibri"/>
              </a:defRPr>
            </a:pPr>
            <a:r>
              <a:t>Cases 4-7</a:t>
            </a:r>
            <a:br/>
            <a:r>
              <a:t>Traffic Analytics</a:t>
            </a:r>
          </a:p>
        </p:txBody>
      </p:sp>
      <p:sp>
        <p:nvSpPr>
          <p:cNvPr id="19" name="Rounded Rectangle 18"/>
          <p:cNvSpPr/>
          <p:nvPr/>
        </p:nvSpPr>
        <p:spPr>
          <a:xfrm>
            <a:off x="3931920" y="4663440"/>
            <a:ext cx="1645920" cy="502920"/>
          </a:xfrm>
          <a:prstGeom prst="roundRect">
            <a:avLst>
              <a:gd name="adj" fmla="val 10000"/>
            </a:avLst>
          </a:prstGeom>
          <a:solidFill>
            <a:srgbClr val="27AE60"/>
          </a:solidFill>
          <a:ln w="19050">
            <a:solidFill>
              <a:srgbClr val="2C6FB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defRPr sz="900" b="1">
                <a:solidFill>
                  <a:srgbClr val="FFFFFF"/>
                </a:solidFill>
                <a:latin typeface="Calibri"/>
              </a:defRPr>
            </a:pPr>
            <a:r>
              <a:t>Cases 8-9</a:t>
            </a:r>
            <a:br/>
            <a:r>
              <a:t>Graph Algorithms</a:t>
            </a:r>
          </a:p>
        </p:txBody>
      </p:sp>
      <p:sp>
        <p:nvSpPr>
          <p:cNvPr id="20" name="Rounded Rectangle 19"/>
          <p:cNvSpPr/>
          <p:nvPr/>
        </p:nvSpPr>
        <p:spPr>
          <a:xfrm>
            <a:off x="5760720" y="4663440"/>
            <a:ext cx="1645920" cy="502920"/>
          </a:xfrm>
          <a:prstGeom prst="roundRect">
            <a:avLst>
              <a:gd name="adj" fmla="val 10000"/>
            </a:avLst>
          </a:prstGeom>
          <a:solidFill>
            <a:srgbClr val="E67E22"/>
          </a:solidFill>
          <a:ln w="19050">
            <a:solidFill>
              <a:srgbClr val="2C6FB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defRPr sz="900" b="1">
                <a:solidFill>
                  <a:srgbClr val="FFFFFF"/>
                </a:solidFill>
                <a:latin typeface="Calibri"/>
              </a:defRPr>
            </a:pPr>
            <a:r>
              <a:t>Cases 10-11</a:t>
            </a:r>
            <a:br/>
            <a:r>
              <a:t>Shortest Path</a:t>
            </a:r>
          </a:p>
        </p:txBody>
      </p:sp>
      <p:sp>
        <p:nvSpPr>
          <p:cNvPr id="21" name="Rounded Rectangle 20"/>
          <p:cNvSpPr/>
          <p:nvPr/>
        </p:nvSpPr>
        <p:spPr>
          <a:xfrm>
            <a:off x="7955279" y="4663440"/>
            <a:ext cx="1645920" cy="502920"/>
          </a:xfrm>
          <a:prstGeom prst="roundRect">
            <a:avLst>
              <a:gd name="adj" fmla="val 10000"/>
            </a:avLst>
          </a:prstGeom>
          <a:solidFill>
            <a:srgbClr val="C0392B"/>
          </a:solidFill>
          <a:ln w="19050">
            <a:solidFill>
              <a:srgbClr val="2C6FB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defRPr sz="900" b="1">
                <a:solidFill>
                  <a:srgbClr val="FFFFFF"/>
                </a:solidFill>
                <a:latin typeface="Calibri"/>
              </a:defRPr>
            </a:pPr>
            <a:r>
              <a:t>Cases 12-15</a:t>
            </a:r>
            <a:br/>
            <a:r>
              <a:t>Greedy &amp; DP</a:t>
            </a:r>
          </a:p>
        </p:txBody>
      </p:sp>
      <p:sp>
        <p:nvSpPr>
          <p:cNvPr id="22" name="Rounded Rectangle 21"/>
          <p:cNvSpPr/>
          <p:nvPr/>
        </p:nvSpPr>
        <p:spPr>
          <a:xfrm>
            <a:off x="10332720" y="4663440"/>
            <a:ext cx="1645920" cy="502920"/>
          </a:xfrm>
          <a:prstGeom prst="roundRect">
            <a:avLst>
              <a:gd name="adj" fmla="val 10000"/>
            </a:avLst>
          </a:prstGeom>
          <a:solidFill>
            <a:srgbClr val="666666"/>
          </a:solidFill>
          <a:ln w="19050">
            <a:solidFill>
              <a:srgbClr val="2C6FB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defRPr sz="900" b="1">
                <a:solidFill>
                  <a:srgbClr val="FFFFFF"/>
                </a:solidFill>
                <a:latin typeface="Calibri"/>
              </a:defRPr>
            </a:pPr>
            <a:r>
              <a:t>Case 0</a:t>
            </a:r>
            <a:br/>
            <a:r>
              <a:t>Exit</a:t>
            </a:r>
          </a:p>
        </p:txBody>
      </p:sp>
      <p:sp>
        <p:nvSpPr>
          <p:cNvPr id="23" name="TextBox 22"/>
          <p:cNvSpPr txBox="1"/>
          <p:nvPr/>
        </p:nvSpPr>
        <p:spPr>
          <a:xfrm>
            <a:off x="4572000" y="5303520"/>
            <a:ext cx="2743200" cy="365760"/>
          </a:xfrm>
          <a:prstGeom prst="rect">
            <a:avLst/>
          </a:prstGeom>
          <a:noFill/>
        </p:spPr>
        <p:txBody>
          <a:bodyPr wrap="square">
            <a:spAutoFit/>
          </a:bodyPr>
          <a:lstStyle/>
          <a:p>
            <a:pPr algn="ctr">
              <a:defRPr sz="1100" b="1">
                <a:solidFill>
                  <a:srgbClr val="55556E"/>
                </a:solidFill>
                <a:latin typeface="Calibri"/>
              </a:defRPr>
            </a:pPr>
            <a:r>
              <a:t>↩ Loop back to Menu Display</a:t>
            </a:r>
          </a:p>
        </p:txBody>
      </p:sp>
      <p:sp>
        <p:nvSpPr>
          <p:cNvPr id="24" name="Down Arrow 23"/>
          <p:cNvSpPr/>
          <p:nvPr/>
        </p:nvSpPr>
        <p:spPr>
          <a:xfrm>
            <a:off x="1097280" y="5212080"/>
            <a:ext cx="182880" cy="182880"/>
          </a:xfrm>
          <a:prstGeom prst="downArrow">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wn Arrow 24"/>
          <p:cNvSpPr/>
          <p:nvPr/>
        </p:nvSpPr>
        <p:spPr>
          <a:xfrm>
            <a:off x="2926080" y="5212080"/>
            <a:ext cx="182880" cy="182880"/>
          </a:xfrm>
          <a:prstGeom prst="downArrow">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Down Arrow 25"/>
          <p:cNvSpPr/>
          <p:nvPr/>
        </p:nvSpPr>
        <p:spPr>
          <a:xfrm>
            <a:off x="4754880" y="5212080"/>
            <a:ext cx="182880" cy="182880"/>
          </a:xfrm>
          <a:prstGeom prst="downArrow">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Down Arrow 26"/>
          <p:cNvSpPr/>
          <p:nvPr/>
        </p:nvSpPr>
        <p:spPr>
          <a:xfrm>
            <a:off x="6583680" y="5212080"/>
            <a:ext cx="182880" cy="182880"/>
          </a:xfrm>
          <a:prstGeom prst="downArrow">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Down Arrow 27"/>
          <p:cNvSpPr/>
          <p:nvPr/>
        </p:nvSpPr>
        <p:spPr>
          <a:xfrm>
            <a:off x="8778240" y="5212080"/>
            <a:ext cx="182880" cy="182880"/>
          </a:xfrm>
          <a:prstGeom prst="downArrow">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Down Arrow 28"/>
          <p:cNvSpPr/>
          <p:nvPr/>
        </p:nvSpPr>
        <p:spPr>
          <a:xfrm>
            <a:off x="11155680" y="5212080"/>
            <a:ext cx="182880" cy="182880"/>
          </a:xfrm>
          <a:prstGeom prst="downArrow">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ounded Rectangle 29"/>
          <p:cNvSpPr/>
          <p:nvPr/>
        </p:nvSpPr>
        <p:spPr>
          <a:xfrm>
            <a:off x="457200" y="5486400"/>
            <a:ext cx="11247120" cy="457200"/>
          </a:xfrm>
          <a:prstGeom prst="roundRect">
            <a:avLst>
              <a:gd name="adj" fmla="val 10000"/>
            </a:avLst>
          </a:prstGeom>
          <a:solidFill>
            <a:srgbClr val="E3F2FD"/>
          </a:solidFill>
          <a:ln w="19050">
            <a:solidFill>
              <a:srgbClr val="2C6FB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defRPr sz="1200" b="1">
                <a:solidFill>
                  <a:srgbClr val="2C6FBB"/>
                </a:solidFill>
                <a:latin typeface="Calibri"/>
              </a:defRPr>
            </a:pPr>
            <a:r>
              <a:t>Execute Algorithm → Console Output (Results, Reports, Routes, Analytics) → Return to Menu</a:t>
            </a:r>
          </a:p>
        </p:txBody>
      </p:sp>
      <p:sp>
        <p:nvSpPr>
          <p:cNvPr id="31" name="TextBox 30"/>
          <p:cNvSpPr txBox="1"/>
          <p:nvPr/>
        </p:nvSpPr>
        <p:spPr>
          <a:xfrm>
            <a:off x="4114800" y="6080760"/>
            <a:ext cx="3657600" cy="365760"/>
          </a:xfrm>
          <a:prstGeom prst="rect">
            <a:avLst/>
          </a:prstGeom>
          <a:noFill/>
        </p:spPr>
        <p:txBody>
          <a:bodyPr wrap="square">
            <a:spAutoFit/>
          </a:bodyPr>
          <a:lstStyle/>
          <a:p>
            <a:pPr algn="ctr">
              <a:defRPr sz="1300" b="1">
                <a:solidFill>
                  <a:srgbClr val="C0392B"/>
                </a:solidFill>
                <a:latin typeface="Calibri"/>
              </a:defRPr>
            </a:pPr>
            <a:r>
              <a:t>Case 0: → System.exit(0) → Program Terminates</a:t>
            </a:r>
          </a:p>
        </p:txBody>
      </p:sp>
      <p:sp>
        <p:nvSpPr>
          <p:cNvPr id="32" name="TextBox 31"/>
          <p:cNvSpPr txBox="1"/>
          <p:nvPr/>
        </p:nvSpPr>
        <p:spPr>
          <a:xfrm>
            <a:off x="457200" y="6400800"/>
            <a:ext cx="10972800" cy="365760"/>
          </a:xfrm>
          <a:prstGeom prst="rect">
            <a:avLst/>
          </a:prstGeom>
          <a:noFill/>
        </p:spPr>
        <p:txBody>
          <a:bodyPr wrap="square">
            <a:spAutoFit/>
          </a:bodyPr>
          <a:lstStyle/>
          <a:p>
            <a:pPr algn="ctr">
              <a:defRPr sz="900" b="0">
                <a:solidFill>
                  <a:srgbClr val="55556E"/>
                </a:solidFill>
                <a:latin typeface="Calibri"/>
              </a:defRPr>
            </a:pPr>
            <a:r>
              <a:t>UrbanAI | Smart City Infrastructure Optimization Platform</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The image is a console-based interface displaying a menu of various urban planning and management options, including asset management, traffic analytics, graph algorithms, and resource allocation, for a smart city optimization platform.&#10;&#10;AI-generated content may be incorrect.">
            <a:extLst>
              <a:ext uri="{FF2B5EF4-FFF2-40B4-BE49-F238E27FC236}">
                <a16:creationId xmlns:a16="http://schemas.microsoft.com/office/drawing/2014/main" id="{D91C3C86-BABB-84FF-2802-8A5E652A50F9}"/>
              </a:ext>
            </a:extLst>
          </p:cNvPr>
          <p:cNvPicPr>
            <a:picLocks noChangeAspect="1"/>
          </p:cNvPicPr>
          <p:nvPr/>
        </p:nvPicPr>
        <p:blipFill>
          <a:blip r:embed="rId2"/>
          <a:stretch>
            <a:fillRect/>
          </a:stretch>
        </p:blipFill>
        <p:spPr>
          <a:xfrm>
            <a:off x="4369379" y="561954"/>
            <a:ext cx="3997048" cy="5734092"/>
          </a:xfrm>
          <a:prstGeom prst="rect">
            <a:avLst/>
          </a:prstGeom>
        </p:spPr>
      </p:pic>
      <p:sp>
        <p:nvSpPr>
          <p:cNvPr id="4" name="TextBox 3">
            <a:extLst>
              <a:ext uri="{FF2B5EF4-FFF2-40B4-BE49-F238E27FC236}">
                <a16:creationId xmlns:a16="http://schemas.microsoft.com/office/drawing/2014/main" id="{D4A52EA1-3A79-4742-6ED7-9B51BB746662}"/>
              </a:ext>
            </a:extLst>
          </p:cNvPr>
          <p:cNvSpPr txBox="1"/>
          <p:nvPr/>
        </p:nvSpPr>
        <p:spPr>
          <a:xfrm>
            <a:off x="171450" y="327314"/>
            <a:ext cx="3226377" cy="369332"/>
          </a:xfrm>
          <a:prstGeom prst="rect">
            <a:avLst/>
          </a:prstGeom>
          <a:noFill/>
        </p:spPr>
        <p:txBody>
          <a:bodyPr wrap="square" rtlCol="0">
            <a:spAutoFit/>
          </a:bodyPr>
          <a:lstStyle/>
          <a:p>
            <a:endParaRPr lang="en-IN" dirty="0"/>
          </a:p>
        </p:txBody>
      </p:sp>
    </p:spTree>
    <p:extLst>
      <p:ext uri="{BB962C8B-B14F-4D97-AF65-F5344CB8AC3E}">
        <p14:creationId xmlns:p14="http://schemas.microsoft.com/office/powerpoint/2010/main" val="33507343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2" name="Oval 1"/>
          <p:cNvSpPr/>
          <p:nvPr/>
        </p:nvSpPr>
        <p:spPr>
          <a:xfrm>
            <a:off x="-914400" y="3657600"/>
            <a:ext cx="2743200" cy="2743200"/>
          </a:xfrm>
          <a:prstGeom prst="ellipse">
            <a:avLst/>
          </a:prstGeom>
          <a:solidFill>
            <a:srgbClr val="2C6FBB">
              <a:alpha val="3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10058400" y="-914400"/>
            <a:ext cx="2743200" cy="2743200"/>
          </a:xfrm>
          <a:prstGeom prst="ellipse">
            <a:avLst/>
          </a:prstGeom>
          <a:solidFill>
            <a:srgbClr val="1AAB8E">
              <a:alpha val="25"/>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371600" y="1371600"/>
            <a:ext cx="9448495" cy="36576"/>
          </a:xfrm>
          <a:prstGeom prst="rect">
            <a:avLst/>
          </a:prstGeom>
          <a:solidFill>
            <a:srgbClr val="1AAB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371600" y="1645920"/>
            <a:ext cx="9448495" cy="731520"/>
          </a:xfrm>
          <a:prstGeom prst="rect">
            <a:avLst/>
          </a:prstGeom>
          <a:noFill/>
        </p:spPr>
        <p:txBody>
          <a:bodyPr wrap="square">
            <a:spAutoFit/>
          </a:bodyPr>
          <a:lstStyle/>
          <a:p>
            <a:pPr algn="ctr">
              <a:defRPr sz="4000" b="1">
                <a:solidFill>
                  <a:srgbClr val="FFFFFF"/>
                </a:solidFill>
                <a:latin typeface="Calibri"/>
              </a:defRPr>
            </a:pPr>
            <a:r>
              <a:t>Conclusion</a:t>
            </a:r>
          </a:p>
        </p:txBody>
      </p:sp>
      <p:sp>
        <p:nvSpPr>
          <p:cNvPr id="6" name="TextBox 5"/>
          <p:cNvSpPr txBox="1"/>
          <p:nvPr/>
        </p:nvSpPr>
        <p:spPr>
          <a:xfrm>
            <a:off x="1371600" y="2560320"/>
            <a:ext cx="9448495" cy="3359894"/>
          </a:xfrm>
          <a:prstGeom prst="rect">
            <a:avLst/>
          </a:prstGeom>
          <a:noFill/>
        </p:spPr>
        <p:txBody>
          <a:bodyPr wrap="square">
            <a:spAutoFit/>
          </a:bodyPr>
          <a:lstStyle/>
          <a:p>
            <a:pPr algn="l">
              <a:spcAft>
                <a:spcPts val="1400"/>
              </a:spcAft>
              <a:defRPr sz="1400" b="0">
                <a:solidFill>
                  <a:srgbClr val="D0D8F0"/>
                </a:solidFill>
                <a:latin typeface="Calibri"/>
              </a:defRPr>
            </a:pPr>
            <a:endParaRPr lang="en-US" dirty="0"/>
          </a:p>
          <a:p>
            <a:pPr algn="l">
              <a:spcAft>
                <a:spcPts val="1400"/>
              </a:spcAft>
              <a:defRPr sz="1400" b="0">
                <a:solidFill>
                  <a:srgbClr val="D0D8F0"/>
                </a:solidFill>
                <a:latin typeface="Calibri"/>
              </a:defRPr>
            </a:pPr>
            <a:r>
              <a:rPr dirty="0"/>
              <a:t>✓ UrbanAI successfully demonstrates 15+ Data Structure &amp; Algorithm implementations mapped to real-world smart city scenarios — bridging the gap between theoretical DSA concepts and practical urban management.</a:t>
            </a:r>
          </a:p>
          <a:p>
            <a:pPr algn="l">
              <a:spcAft>
                <a:spcPts val="1400"/>
              </a:spcAft>
              <a:defRPr sz="1400" b="0">
                <a:solidFill>
                  <a:srgbClr val="D0D8F0"/>
                </a:solidFill>
                <a:latin typeface="Calibri"/>
              </a:defRPr>
            </a:pPr>
            <a:r>
              <a:rPr dirty="0"/>
              <a:t>✓ The modular architecture (5 CO-aligned modules) with PostgreSQL integration showcases production-ready software engineering practices — database persistence, OOP design, and menu-driven interaction.</a:t>
            </a:r>
          </a:p>
          <a:p>
            <a:pPr algn="l">
              <a:spcAft>
                <a:spcPts val="1400"/>
              </a:spcAft>
              <a:defRPr sz="1400" b="0">
                <a:solidFill>
                  <a:srgbClr val="D0D8F0"/>
                </a:solidFill>
                <a:latin typeface="Calibri"/>
              </a:defRPr>
            </a:pPr>
            <a:r>
              <a:rPr dirty="0"/>
              <a:t>✓ Performance is optimized at every layer: AVL Trees for O(log n) asset search, Fenwick Trees for O(log n) traffic analytics, Graph algorithms for network optimization, and Greedy/DP for resource allocation.</a:t>
            </a:r>
          </a:p>
          <a:p>
            <a:pPr algn="l">
              <a:spcAft>
                <a:spcPts val="1400"/>
              </a:spcAft>
              <a:defRPr sz="1400" b="0">
                <a:solidFill>
                  <a:srgbClr val="D0D8F0"/>
                </a:solidFill>
                <a:latin typeface="Calibri"/>
              </a:defRPr>
            </a:pPr>
            <a:r>
              <a:rPr dirty="0"/>
              <a:t>✓ The platform is extensible — new algorithms (B-Trees, A* Search, Trie-based geo-indexing) can be added as new modules without disrupting existing functionality.</a:t>
            </a:r>
          </a:p>
          <a:p>
            <a:pPr algn="l">
              <a:spcAft>
                <a:spcPts val="1400"/>
              </a:spcAft>
              <a:defRPr sz="1400" b="0">
                <a:solidFill>
                  <a:srgbClr val="D0D8F0"/>
                </a:solidFill>
                <a:latin typeface="Calibri"/>
              </a:defRPr>
            </a:pPr>
            <a:r>
              <a:rPr dirty="0"/>
              <a:t>✓ UrbanAI proves that mastering Data Structures &amp; Algorithms is the foundation for building intelligent, scalable, and responsive urban infrastructure systems.</a:t>
            </a:r>
          </a:p>
        </p:txBody>
      </p:sp>
      <p:sp>
        <p:nvSpPr>
          <p:cNvPr id="7" name="Rectangle 6"/>
          <p:cNvSpPr/>
          <p:nvPr/>
        </p:nvSpPr>
        <p:spPr>
          <a:xfrm>
            <a:off x="1371600" y="6217920"/>
            <a:ext cx="9448495" cy="36576"/>
          </a:xfrm>
          <a:prstGeom prst="rect">
            <a:avLst/>
          </a:prstGeom>
          <a:solidFill>
            <a:srgbClr val="1AAB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25</TotalTime>
  <Words>2891</Words>
  <Application>Microsoft Office PowerPoint</Application>
  <PresentationFormat>Widescreen</PresentationFormat>
  <Paragraphs>215</Paragraphs>
  <Slides>15</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RAJA HITHESH</cp:lastModifiedBy>
  <cp:revision>6</cp:revision>
  <dcterms:created xsi:type="dcterms:W3CDTF">2013-01-27T09:14:16Z</dcterms:created>
  <dcterms:modified xsi:type="dcterms:W3CDTF">2026-06-25T03:29:38Z</dcterms:modified>
  <cp:category/>
</cp:coreProperties>
</file>